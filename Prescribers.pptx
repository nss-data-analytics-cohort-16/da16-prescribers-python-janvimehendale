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
  </p:notesMasterIdLst>
  <p:handoutMasterIdLst>
    <p:handoutMasterId r:id="rId10"/>
  </p:handoutMasterIdLst>
  <p:sldIdLst>
    <p:sldId id="257" r:id="rId2"/>
    <p:sldId id="258" r:id="rId3"/>
    <p:sldId id="259" r:id="rId4"/>
    <p:sldId id="260" r:id="rId5"/>
    <p:sldId id="261" r:id="rId6"/>
    <p:sldId id="262" r:id="rId7"/>
    <p:sldId id="264" r:id="rId8"/>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888">
          <p15:clr>
            <a:srgbClr val="A4A3A4"/>
          </p15:clr>
        </p15:guide>
        <p15:guide id="4" orient="horz" pos="864" userDrawn="1">
          <p15:clr>
            <a:srgbClr val="A4A3A4"/>
          </p15:clr>
        </p15:guide>
        <p15:guide id="5" pos="3839">
          <p15:clr>
            <a:srgbClr val="A4A3A4"/>
          </p15:clr>
        </p15:guide>
        <p15:guide id="6" pos="1007">
          <p15:clr>
            <a:srgbClr val="A4A3A4"/>
          </p15:clr>
        </p15:guide>
        <p15:guide id="7" pos="717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FAF0A0-2144-3E2A-B5EA-A616251E044A}" v="183" dt="2026-01-17T15:12:44.588"/>
    <p1510:client id="{5AAB83A2-B472-7E7A-ADCE-EC0F4067C66D}" v="159" dt="2026-01-17T16:03:18.260"/>
    <p1510:client id="{76499BB9-59C5-04D5-8636-2C416B1401E7}" v="7" dt="2026-01-18T00:56:51.278"/>
    <p1510:client id="{7854D134-5124-3EC8-9DEF-09B85E906F38}" v="2" dt="2026-01-17T16:05:13.529"/>
    <p1510:client id="{F4B51BD0-DDA3-2369-E4F5-7F2B879F02CD}" v="10" dt="2026-01-17T16:51:41.399"/>
  </p1510:revLst>
</p1510:revInfo>
</file>

<file path=ppt/tableStyles.xml><?xml version="1.0" encoding="utf-8"?>
<a:tblStyleLst xmlns:a="http://schemas.openxmlformats.org/drawingml/2006/main" def="{FABFCF23-3B69-468F-B69F-88F6DE6A72F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4" y="268"/>
      </p:cViewPr>
      <p:guideLst>
        <p:guide orient="horz" pos="2160"/>
        <p:guide orient="horz" pos="1008"/>
        <p:guide orient="horz" pos="3888"/>
        <p:guide orient="horz" pos="864"/>
        <p:guide pos="3839"/>
        <p:guide pos="1007"/>
        <p:guide pos="7173"/>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3.1732430294833143E-2"/>
          <c:y val="6.4736220472440945E-2"/>
          <c:w val="0.95351978947306193"/>
          <c:h val="0.81256736657917761"/>
        </c:manualLayout>
      </c:layout>
      <c:barChart>
        <c:barDir val="col"/>
        <c:grouping val="clustered"/>
        <c:varyColors val="0"/>
        <c:ser>
          <c:idx val="0"/>
          <c:order val="0"/>
          <c:tx>
            <c:strRef>
              <c:f>Sheet1!$B$1</c:f>
              <c:strCache>
                <c:ptCount val="1"/>
                <c:pt idx="0">
                  <c:v>Prescription Count</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DAVID COFFEY</c:v>
                </c:pt>
                <c:pt idx="1">
                  <c:v>JUSTIN KINDRICK</c:v>
                </c:pt>
                <c:pt idx="2">
                  <c:v>SHARON CATHERS</c:v>
                </c:pt>
                <c:pt idx="3">
                  <c:v>MICHELLE PAINTER</c:v>
                </c:pt>
                <c:pt idx="4">
                  <c:v>RICHARD CLARK</c:v>
                </c:pt>
                <c:pt idx="5">
                  <c:v>JAMES LADSON</c:v>
                </c:pt>
                <c:pt idx="6">
                  <c:v>DWIGHT WILLETT</c:v>
                </c:pt>
                <c:pt idx="7">
                  <c:v>ALICIA TAYLOR</c:v>
                </c:pt>
                <c:pt idx="8">
                  <c:v>JENNIFER GREEN</c:v>
                </c:pt>
                <c:pt idx="9">
                  <c:v>AMY BOWSER</c:v>
                </c:pt>
              </c:strCache>
            </c:strRef>
          </c:cat>
          <c:val>
            <c:numRef>
              <c:f>Sheet1!$B$2:$B$11</c:f>
              <c:numCache>
                <c:formatCode>General</c:formatCode>
                <c:ptCount val="10"/>
                <c:pt idx="0">
                  <c:v>9384</c:v>
                </c:pt>
                <c:pt idx="1">
                  <c:v>8405</c:v>
                </c:pt>
                <c:pt idx="2">
                  <c:v>7274</c:v>
                </c:pt>
                <c:pt idx="3">
                  <c:v>5709</c:v>
                </c:pt>
                <c:pt idx="4">
                  <c:v>5626</c:v>
                </c:pt>
                <c:pt idx="5">
                  <c:v>5423</c:v>
                </c:pt>
                <c:pt idx="6">
                  <c:v>5221</c:v>
                </c:pt>
                <c:pt idx="7">
                  <c:v>5088</c:v>
                </c:pt>
                <c:pt idx="8">
                  <c:v>5085</c:v>
                </c:pt>
                <c:pt idx="9">
                  <c:v>4979</c:v>
                </c:pt>
              </c:numCache>
            </c:numRef>
          </c:val>
          <c:extLst>
            <c:ext xmlns:c16="http://schemas.microsoft.com/office/drawing/2014/chart" uri="{C3380CC4-5D6E-409C-BE32-E72D297353CC}">
              <c16:uniqueId val="{00000000-4717-4871-A215-5D2AA27A7939}"/>
            </c:ext>
          </c:extLst>
        </c:ser>
        <c:dLbls>
          <c:showLegendKey val="0"/>
          <c:showVal val="0"/>
          <c:showCatName val="0"/>
          <c:showSerName val="0"/>
          <c:showPercent val="0"/>
          <c:showBubbleSize val="0"/>
        </c:dLbls>
        <c:gapWidth val="100"/>
        <c:overlap val="-24"/>
        <c:axId val="538106984"/>
        <c:axId val="538107376"/>
      </c:barChart>
      <c:catAx>
        <c:axId val="538106984"/>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38107376"/>
        <c:crosses val="autoZero"/>
        <c:auto val="1"/>
        <c:lblAlgn val="ctr"/>
        <c:lblOffset val="100"/>
        <c:noMultiLvlLbl val="0"/>
      </c:catAx>
      <c:valAx>
        <c:axId val="538107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38106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442EA2-39BA-4C9A-AD59-755D4917D532}" type="doc">
      <dgm:prSet loTypeId="urn:microsoft.com/office/officeart/2005/8/layout/list1" loCatId="list" qsTypeId="urn:microsoft.com/office/officeart/2005/8/quickstyle/simple1" qsCatId="simple" csTypeId="urn:microsoft.com/office/officeart/2005/8/colors/accent5_2" csCatId="accent5" phldr="1"/>
      <dgm:spPr/>
      <dgm:t>
        <a:bodyPr/>
        <a:lstStyle/>
        <a:p>
          <a:endParaRPr lang="en-US"/>
        </a:p>
      </dgm:t>
    </dgm:pt>
    <dgm:pt modelId="{4DF9FE7B-F642-4898-A360-D4E3814E1A3D}">
      <dgm:prSet phldrT="[Text]"/>
      <dgm:spPr/>
      <dgm:t>
        <a:bodyPr/>
        <a:lstStyle/>
        <a:p>
          <a:r>
            <a:rPr lang="en-US" sz="1800"/>
            <a:t>Natural opiates </a:t>
          </a:r>
        </a:p>
      </dgm:t>
      <dgm:extLst>
        <a:ext uri="{E40237B7-FDA0-4F09-8148-C483321AD2D9}">
          <dgm14:cNvPr xmlns:dgm14="http://schemas.microsoft.com/office/drawing/2010/diagram" id="0" name="" title="Group A"/>
        </a:ext>
      </dgm:extLst>
    </dgm:pt>
    <dgm:pt modelId="{1C10F06D-860A-4604-A7AD-02E614FE3976}" type="parTrans" cxnId="{EBD8BE8D-6018-43E2-B081-034BB5656EB6}">
      <dgm:prSet/>
      <dgm:spPr/>
      <dgm:t>
        <a:bodyPr/>
        <a:lstStyle/>
        <a:p>
          <a:endParaRPr lang="en-US"/>
        </a:p>
      </dgm:t>
    </dgm:pt>
    <dgm:pt modelId="{43C18EFF-81FC-4D70-8C6B-E95FF3730413}" type="sibTrans" cxnId="{EBD8BE8D-6018-43E2-B081-034BB5656EB6}">
      <dgm:prSet/>
      <dgm:spPr/>
      <dgm:t>
        <a:bodyPr/>
        <a:lstStyle/>
        <a:p>
          <a:endParaRPr lang="en-US"/>
        </a:p>
      </dgm:t>
    </dgm:pt>
    <dgm:pt modelId="{EFF2750D-B4B3-474C-8B62-8B638DC31F7E}">
      <dgm:prSet phldrT="[Text]"/>
      <dgm:spPr/>
      <dgm:t>
        <a:bodyPr/>
        <a:lstStyle/>
        <a:p>
          <a:r>
            <a:rPr lang="en-US" sz="1800"/>
            <a:t>Morphine</a:t>
          </a:r>
        </a:p>
      </dgm:t>
      <dgm:extLst>
        <a:ext uri="{E40237B7-FDA0-4F09-8148-C483321AD2D9}">
          <dgm14:cNvPr xmlns:dgm14="http://schemas.microsoft.com/office/drawing/2010/diagram" id="0" name="" title="Group A task"/>
        </a:ext>
      </dgm:extLst>
    </dgm:pt>
    <dgm:pt modelId="{AEBC78E6-CDDC-4C8F-A157-3C51E907FACD}" type="parTrans" cxnId="{A058DDA2-48CA-4E5B-B389-F71A59C262B0}">
      <dgm:prSet/>
      <dgm:spPr/>
      <dgm:t>
        <a:bodyPr/>
        <a:lstStyle/>
        <a:p>
          <a:endParaRPr lang="en-US"/>
        </a:p>
      </dgm:t>
    </dgm:pt>
    <dgm:pt modelId="{75C067D7-FCD2-4969-8F27-4BBDA88E75ED}" type="sibTrans" cxnId="{A058DDA2-48CA-4E5B-B389-F71A59C262B0}">
      <dgm:prSet/>
      <dgm:spPr/>
      <dgm:t>
        <a:bodyPr/>
        <a:lstStyle/>
        <a:p>
          <a:endParaRPr lang="en-US"/>
        </a:p>
      </dgm:t>
    </dgm:pt>
    <dgm:pt modelId="{789CD6DB-3A68-4A41-90BD-4F0CBB3617D1}">
      <dgm:prSet phldrT="[Text]"/>
      <dgm:spPr/>
      <dgm:t>
        <a:bodyPr/>
        <a:lstStyle/>
        <a:p>
          <a:r>
            <a:rPr lang="en-US" sz="1800"/>
            <a:t>Codeine</a:t>
          </a:r>
        </a:p>
      </dgm:t>
    </dgm:pt>
    <dgm:pt modelId="{C0BEB5FF-8DFB-40B9-A228-C0C6097DDDC4}" type="parTrans" cxnId="{62C10234-45D3-426A-8820-4C0D1D8CBA21}">
      <dgm:prSet/>
      <dgm:spPr/>
      <dgm:t>
        <a:bodyPr/>
        <a:lstStyle/>
        <a:p>
          <a:endParaRPr lang="en-US"/>
        </a:p>
      </dgm:t>
    </dgm:pt>
    <dgm:pt modelId="{1A702531-A59F-4EE2-8246-E2EB0955D8B1}" type="sibTrans" cxnId="{62C10234-45D3-426A-8820-4C0D1D8CBA21}">
      <dgm:prSet/>
      <dgm:spPr/>
      <dgm:t>
        <a:bodyPr/>
        <a:lstStyle/>
        <a:p>
          <a:endParaRPr lang="en-US"/>
        </a:p>
      </dgm:t>
    </dgm:pt>
    <dgm:pt modelId="{3929B1E1-4BC4-4C73-ABE8-27CEF96A3652}">
      <dgm:prSet phldrT="[Text]"/>
      <dgm:spPr/>
      <dgm:t>
        <a:bodyPr/>
        <a:lstStyle/>
        <a:p>
          <a:r>
            <a:rPr lang="en-US" sz="1800"/>
            <a:t>Semi- synthetic opioids</a:t>
          </a:r>
        </a:p>
      </dgm:t>
      <dgm:extLst>
        <a:ext uri="{E40237B7-FDA0-4F09-8148-C483321AD2D9}">
          <dgm14:cNvPr xmlns:dgm14="http://schemas.microsoft.com/office/drawing/2010/diagram" id="0" name="" title="Group B"/>
        </a:ext>
      </dgm:extLst>
    </dgm:pt>
    <dgm:pt modelId="{F356CC76-9117-4B79-A270-BBBAFD3E9C79}" type="parTrans" cxnId="{1339090C-9A95-4C05-841C-FA3AF987601B}">
      <dgm:prSet/>
      <dgm:spPr/>
      <dgm:t>
        <a:bodyPr/>
        <a:lstStyle/>
        <a:p>
          <a:endParaRPr lang="en-US"/>
        </a:p>
      </dgm:t>
    </dgm:pt>
    <dgm:pt modelId="{19BA0C22-38BB-4E9F-89D5-0FF5FF9F12CE}" type="sibTrans" cxnId="{1339090C-9A95-4C05-841C-FA3AF987601B}">
      <dgm:prSet/>
      <dgm:spPr/>
      <dgm:t>
        <a:bodyPr/>
        <a:lstStyle/>
        <a:p>
          <a:endParaRPr lang="en-US"/>
        </a:p>
      </dgm:t>
    </dgm:pt>
    <dgm:pt modelId="{99E0600D-9954-43F4-8926-13B8777FAAA1}">
      <dgm:prSet phldrT="[Text]"/>
      <dgm:spPr/>
      <dgm:t>
        <a:bodyPr/>
        <a:lstStyle/>
        <a:p>
          <a:r>
            <a:rPr lang="en-US" sz="1800"/>
            <a:t>Oxycodone</a:t>
          </a:r>
        </a:p>
      </dgm:t>
      <dgm:extLst>
        <a:ext uri="{E40237B7-FDA0-4F09-8148-C483321AD2D9}">
          <dgm14:cNvPr xmlns:dgm14="http://schemas.microsoft.com/office/drawing/2010/diagram" id="0" name="" title="Group B task"/>
        </a:ext>
      </dgm:extLst>
    </dgm:pt>
    <dgm:pt modelId="{BE23F476-2C5C-42ED-BF2B-CD5FC7ADDDF6}" type="parTrans" cxnId="{09FCCB9D-A30A-4326-970E-26252D39327F}">
      <dgm:prSet/>
      <dgm:spPr/>
      <dgm:t>
        <a:bodyPr/>
        <a:lstStyle/>
        <a:p>
          <a:endParaRPr lang="en-US"/>
        </a:p>
      </dgm:t>
    </dgm:pt>
    <dgm:pt modelId="{C44937DC-4907-4769-AA8B-1B3E7391D7B0}" type="sibTrans" cxnId="{09FCCB9D-A30A-4326-970E-26252D39327F}">
      <dgm:prSet/>
      <dgm:spPr/>
      <dgm:t>
        <a:bodyPr/>
        <a:lstStyle/>
        <a:p>
          <a:endParaRPr lang="en-US"/>
        </a:p>
      </dgm:t>
    </dgm:pt>
    <dgm:pt modelId="{0791135C-9DAB-47F6-BE9C-A3E56A2DDA50}">
      <dgm:prSet phldrT="[Text]"/>
      <dgm:spPr/>
      <dgm:t>
        <a:bodyPr/>
        <a:lstStyle/>
        <a:p>
          <a:r>
            <a:rPr lang="en-US" sz="1800"/>
            <a:t>Hydrocodone</a:t>
          </a:r>
        </a:p>
      </dgm:t>
    </dgm:pt>
    <dgm:pt modelId="{D6057E63-9793-4991-97C1-30FC405E95A5}" type="parTrans" cxnId="{B3B26E9A-58E5-497B-BD59-F5567958C609}">
      <dgm:prSet/>
      <dgm:spPr/>
      <dgm:t>
        <a:bodyPr/>
        <a:lstStyle/>
        <a:p>
          <a:endParaRPr lang="en-US"/>
        </a:p>
      </dgm:t>
    </dgm:pt>
    <dgm:pt modelId="{B670C2A7-83CB-4F4C-BC19-A3A7C066A822}" type="sibTrans" cxnId="{B3B26E9A-58E5-497B-BD59-F5567958C609}">
      <dgm:prSet/>
      <dgm:spPr/>
      <dgm:t>
        <a:bodyPr/>
        <a:lstStyle/>
        <a:p>
          <a:endParaRPr lang="en-US"/>
        </a:p>
      </dgm:t>
    </dgm:pt>
    <dgm:pt modelId="{60CDF8D0-D4FC-4467-A51E-79C5A58B0B2C}">
      <dgm:prSet phldrT="[Text]"/>
      <dgm:spPr/>
      <dgm:t>
        <a:bodyPr/>
        <a:lstStyle/>
        <a:p>
          <a:r>
            <a:rPr lang="en-US" sz="1800"/>
            <a:t>Fully synthetic opioids</a:t>
          </a:r>
        </a:p>
      </dgm:t>
      <dgm:extLst>
        <a:ext uri="{E40237B7-FDA0-4F09-8148-C483321AD2D9}">
          <dgm14:cNvPr xmlns:dgm14="http://schemas.microsoft.com/office/drawing/2010/diagram" id="0" name="" title="Group C"/>
        </a:ext>
      </dgm:extLst>
    </dgm:pt>
    <dgm:pt modelId="{E12A269F-AB82-486A-9077-80F2BBBE48C2}" type="parTrans" cxnId="{2BA65DEC-E719-4ED3-8135-48349D42DD04}">
      <dgm:prSet/>
      <dgm:spPr/>
      <dgm:t>
        <a:bodyPr/>
        <a:lstStyle/>
        <a:p>
          <a:endParaRPr lang="en-US"/>
        </a:p>
      </dgm:t>
    </dgm:pt>
    <dgm:pt modelId="{3F7FD59D-A716-4310-A89A-AB6F740D9FFF}" type="sibTrans" cxnId="{2BA65DEC-E719-4ED3-8135-48349D42DD04}">
      <dgm:prSet/>
      <dgm:spPr/>
      <dgm:t>
        <a:bodyPr/>
        <a:lstStyle/>
        <a:p>
          <a:endParaRPr lang="en-US"/>
        </a:p>
      </dgm:t>
    </dgm:pt>
    <dgm:pt modelId="{50629C12-7464-4473-ADEF-1A284F8A9957}">
      <dgm:prSet phldrT="[Text]"/>
      <dgm:spPr/>
      <dgm:t>
        <a:bodyPr/>
        <a:lstStyle/>
        <a:p>
          <a:r>
            <a:rPr lang="en-US" sz="1800"/>
            <a:t>Fentanyl</a:t>
          </a:r>
        </a:p>
      </dgm:t>
      <dgm:extLst>
        <a:ext uri="{E40237B7-FDA0-4F09-8148-C483321AD2D9}">
          <dgm14:cNvPr xmlns:dgm14="http://schemas.microsoft.com/office/drawing/2010/diagram" id="0" name="" title="Group C task"/>
        </a:ext>
      </dgm:extLst>
    </dgm:pt>
    <dgm:pt modelId="{9D1CB46C-0CFA-4B27-9224-267431FBD094}" type="parTrans" cxnId="{1D32FCC9-657C-4348-9C0D-52115D559FEB}">
      <dgm:prSet/>
      <dgm:spPr/>
      <dgm:t>
        <a:bodyPr/>
        <a:lstStyle/>
        <a:p>
          <a:endParaRPr lang="en-US"/>
        </a:p>
      </dgm:t>
    </dgm:pt>
    <dgm:pt modelId="{4576BCC5-0598-4332-A2E7-87AC3ADD4EB8}" type="sibTrans" cxnId="{1D32FCC9-657C-4348-9C0D-52115D559FEB}">
      <dgm:prSet/>
      <dgm:spPr/>
      <dgm:t>
        <a:bodyPr/>
        <a:lstStyle/>
        <a:p>
          <a:endParaRPr lang="en-US"/>
        </a:p>
      </dgm:t>
    </dgm:pt>
    <dgm:pt modelId="{781B1F4C-DE92-474A-AF07-52014810ADA1}">
      <dgm:prSet phldrT="[Text]"/>
      <dgm:spPr/>
      <dgm:t>
        <a:bodyPr/>
        <a:lstStyle/>
        <a:p>
          <a:r>
            <a:rPr lang="en-US" sz="1800" err="1"/>
            <a:t>Tramodol</a:t>
          </a:r>
          <a:endParaRPr lang="en-US" sz="1800"/>
        </a:p>
      </dgm:t>
    </dgm:pt>
    <dgm:pt modelId="{BCA02010-0F93-4B29-A4DE-2F951476D5BA}" type="parTrans" cxnId="{C72D39C4-414B-4133-BC0D-3A2B6F6631C8}">
      <dgm:prSet/>
      <dgm:spPr/>
      <dgm:t>
        <a:bodyPr/>
        <a:lstStyle/>
        <a:p>
          <a:endParaRPr lang="en-US"/>
        </a:p>
      </dgm:t>
    </dgm:pt>
    <dgm:pt modelId="{50B85641-8D95-40C6-96BD-22F72789EE8A}" type="sibTrans" cxnId="{C72D39C4-414B-4133-BC0D-3A2B6F6631C8}">
      <dgm:prSet/>
      <dgm:spPr/>
      <dgm:t>
        <a:bodyPr/>
        <a:lstStyle/>
        <a:p>
          <a:endParaRPr lang="en-US"/>
        </a:p>
      </dgm:t>
    </dgm:pt>
    <dgm:pt modelId="{3117AF55-1F69-493B-8E94-B8EEBB900C5D}">
      <dgm:prSet phldrT="[Text]"/>
      <dgm:spPr/>
      <dgm:t>
        <a:bodyPr/>
        <a:lstStyle/>
        <a:p>
          <a:r>
            <a:rPr lang="en-US" sz="1800"/>
            <a:t>Hydromorphone</a:t>
          </a:r>
        </a:p>
      </dgm:t>
    </dgm:pt>
    <dgm:pt modelId="{B981D05E-AD3E-4EAE-8180-9927C047831D}" type="parTrans" cxnId="{29B61D9A-E463-4A4D-9F06-37CB9E2799D7}">
      <dgm:prSet/>
      <dgm:spPr/>
      <dgm:t>
        <a:bodyPr/>
        <a:lstStyle/>
        <a:p>
          <a:endParaRPr lang="en-US"/>
        </a:p>
      </dgm:t>
    </dgm:pt>
    <dgm:pt modelId="{DDCB3882-60A2-48BA-ACB0-E2DF509F103B}" type="sibTrans" cxnId="{29B61D9A-E463-4A4D-9F06-37CB9E2799D7}">
      <dgm:prSet/>
      <dgm:spPr/>
      <dgm:t>
        <a:bodyPr/>
        <a:lstStyle/>
        <a:p>
          <a:endParaRPr lang="en-US"/>
        </a:p>
      </dgm:t>
    </dgm:pt>
    <dgm:pt modelId="{E6A445EE-D086-4B01-B491-D67950A5A065}" type="pres">
      <dgm:prSet presAssocID="{3F442EA2-39BA-4C9A-AD59-755D4917D532}" presName="linear" presStyleCnt="0">
        <dgm:presLayoutVars>
          <dgm:dir/>
          <dgm:animLvl val="lvl"/>
          <dgm:resizeHandles val="exact"/>
        </dgm:presLayoutVars>
      </dgm:prSet>
      <dgm:spPr/>
    </dgm:pt>
    <dgm:pt modelId="{6D3A9625-D3EB-4CA1-AB05-34452283708A}" type="pres">
      <dgm:prSet presAssocID="{4DF9FE7B-F642-4898-A360-D4E3814E1A3D}" presName="parentLin" presStyleCnt="0"/>
      <dgm:spPr/>
    </dgm:pt>
    <dgm:pt modelId="{7E290D25-335D-4339-A8E8-B036E46B5EB5}" type="pres">
      <dgm:prSet presAssocID="{4DF9FE7B-F642-4898-A360-D4E3814E1A3D}" presName="parentLeftMargin" presStyleLbl="node1" presStyleIdx="0" presStyleCnt="3"/>
      <dgm:spPr/>
    </dgm:pt>
    <dgm:pt modelId="{674922F1-7266-4681-AD4F-1C618A5FFF23}" type="pres">
      <dgm:prSet presAssocID="{4DF9FE7B-F642-4898-A360-D4E3814E1A3D}" presName="parentText" presStyleLbl="node1" presStyleIdx="0" presStyleCnt="3">
        <dgm:presLayoutVars>
          <dgm:chMax val="0"/>
          <dgm:bulletEnabled val="1"/>
        </dgm:presLayoutVars>
      </dgm:prSet>
      <dgm:spPr/>
    </dgm:pt>
    <dgm:pt modelId="{96C29850-0672-4B77-B5DE-2E1563038631}" type="pres">
      <dgm:prSet presAssocID="{4DF9FE7B-F642-4898-A360-D4E3814E1A3D}" presName="negativeSpace" presStyleCnt="0"/>
      <dgm:spPr/>
    </dgm:pt>
    <dgm:pt modelId="{80259B02-529C-422B-91BE-D70198BA9F6C}" type="pres">
      <dgm:prSet presAssocID="{4DF9FE7B-F642-4898-A360-D4E3814E1A3D}" presName="childText" presStyleLbl="conFgAcc1" presStyleIdx="0" presStyleCnt="3" custLinFactNeighborX="-6937" custLinFactNeighborY="-1308">
        <dgm:presLayoutVars>
          <dgm:bulletEnabled val="1"/>
        </dgm:presLayoutVars>
      </dgm:prSet>
      <dgm:spPr/>
    </dgm:pt>
    <dgm:pt modelId="{E53EFB4E-D3DB-42E1-82AC-148F7D29254F}" type="pres">
      <dgm:prSet presAssocID="{43C18EFF-81FC-4D70-8C6B-E95FF3730413}" presName="spaceBetweenRectangles" presStyleCnt="0"/>
      <dgm:spPr/>
    </dgm:pt>
    <dgm:pt modelId="{07AC1C38-F728-4390-9C76-57A49ED97DBB}" type="pres">
      <dgm:prSet presAssocID="{3929B1E1-4BC4-4C73-ABE8-27CEF96A3652}" presName="parentLin" presStyleCnt="0"/>
      <dgm:spPr/>
    </dgm:pt>
    <dgm:pt modelId="{D0037F0D-DB9A-4BA4-97B4-D939B26E14DA}" type="pres">
      <dgm:prSet presAssocID="{3929B1E1-4BC4-4C73-ABE8-27CEF96A3652}" presName="parentLeftMargin" presStyleLbl="node1" presStyleIdx="0" presStyleCnt="3"/>
      <dgm:spPr/>
    </dgm:pt>
    <dgm:pt modelId="{21EEBBE2-729F-4D85-8CAE-C2B30FF126D2}" type="pres">
      <dgm:prSet presAssocID="{3929B1E1-4BC4-4C73-ABE8-27CEF96A3652}" presName="parentText" presStyleLbl="node1" presStyleIdx="1" presStyleCnt="3">
        <dgm:presLayoutVars>
          <dgm:chMax val="0"/>
          <dgm:bulletEnabled val="1"/>
        </dgm:presLayoutVars>
      </dgm:prSet>
      <dgm:spPr/>
    </dgm:pt>
    <dgm:pt modelId="{AACB3FAF-C320-430D-84D4-71BA6D1761D1}" type="pres">
      <dgm:prSet presAssocID="{3929B1E1-4BC4-4C73-ABE8-27CEF96A3652}" presName="negativeSpace" presStyleCnt="0"/>
      <dgm:spPr/>
    </dgm:pt>
    <dgm:pt modelId="{5282638F-EFF2-4770-BB1A-21455422E45D}" type="pres">
      <dgm:prSet presAssocID="{3929B1E1-4BC4-4C73-ABE8-27CEF96A3652}" presName="childText" presStyleLbl="conFgAcc1" presStyleIdx="1" presStyleCnt="3">
        <dgm:presLayoutVars>
          <dgm:bulletEnabled val="1"/>
        </dgm:presLayoutVars>
      </dgm:prSet>
      <dgm:spPr/>
    </dgm:pt>
    <dgm:pt modelId="{8CE827AA-77D8-4146-A665-00110A17769E}" type="pres">
      <dgm:prSet presAssocID="{19BA0C22-38BB-4E9F-89D5-0FF5FF9F12CE}" presName="spaceBetweenRectangles" presStyleCnt="0"/>
      <dgm:spPr/>
    </dgm:pt>
    <dgm:pt modelId="{34C9EE47-81AF-461E-8292-AB107AA0D367}" type="pres">
      <dgm:prSet presAssocID="{60CDF8D0-D4FC-4467-A51E-79C5A58B0B2C}" presName="parentLin" presStyleCnt="0"/>
      <dgm:spPr/>
    </dgm:pt>
    <dgm:pt modelId="{864CB39B-29F9-473D-90E5-0686D86E278F}" type="pres">
      <dgm:prSet presAssocID="{60CDF8D0-D4FC-4467-A51E-79C5A58B0B2C}" presName="parentLeftMargin" presStyleLbl="node1" presStyleIdx="1" presStyleCnt="3"/>
      <dgm:spPr/>
    </dgm:pt>
    <dgm:pt modelId="{5B203A22-00AF-46E7-9415-C6DAFD7E01CC}" type="pres">
      <dgm:prSet presAssocID="{60CDF8D0-D4FC-4467-A51E-79C5A58B0B2C}" presName="parentText" presStyleLbl="node1" presStyleIdx="2" presStyleCnt="3">
        <dgm:presLayoutVars>
          <dgm:chMax val="0"/>
          <dgm:bulletEnabled val="1"/>
        </dgm:presLayoutVars>
      </dgm:prSet>
      <dgm:spPr/>
    </dgm:pt>
    <dgm:pt modelId="{DF9C1F84-81DE-4E5D-9537-C2D1A211B8B6}" type="pres">
      <dgm:prSet presAssocID="{60CDF8D0-D4FC-4467-A51E-79C5A58B0B2C}" presName="negativeSpace" presStyleCnt="0"/>
      <dgm:spPr/>
    </dgm:pt>
    <dgm:pt modelId="{964E6811-5072-4466-B721-689C35A65029}" type="pres">
      <dgm:prSet presAssocID="{60CDF8D0-D4FC-4467-A51E-79C5A58B0B2C}" presName="childText" presStyleLbl="conFgAcc1" presStyleIdx="2" presStyleCnt="3">
        <dgm:presLayoutVars>
          <dgm:bulletEnabled val="1"/>
        </dgm:presLayoutVars>
      </dgm:prSet>
      <dgm:spPr/>
    </dgm:pt>
  </dgm:ptLst>
  <dgm:cxnLst>
    <dgm:cxn modelId="{1339090C-9A95-4C05-841C-FA3AF987601B}" srcId="{3F442EA2-39BA-4C9A-AD59-755D4917D532}" destId="{3929B1E1-4BC4-4C73-ABE8-27CEF96A3652}" srcOrd="1" destOrd="0" parTransId="{F356CC76-9117-4B79-A270-BBBAFD3E9C79}" sibTransId="{19BA0C22-38BB-4E9F-89D5-0FF5FF9F12CE}"/>
    <dgm:cxn modelId="{62C10234-45D3-426A-8820-4C0D1D8CBA21}" srcId="{4DF9FE7B-F642-4898-A360-D4E3814E1A3D}" destId="{789CD6DB-3A68-4A41-90BD-4F0CBB3617D1}" srcOrd="1" destOrd="0" parTransId="{C0BEB5FF-8DFB-40B9-A228-C0C6097DDDC4}" sibTransId="{1A702531-A59F-4EE2-8246-E2EB0955D8B1}"/>
    <dgm:cxn modelId="{59CE303B-5DCD-473F-B065-1C51DBBD3F43}" type="presOf" srcId="{3117AF55-1F69-493B-8E94-B8EEBB900C5D}" destId="{5282638F-EFF2-4770-BB1A-21455422E45D}" srcOrd="0" destOrd="2" presId="urn:microsoft.com/office/officeart/2005/8/layout/list1"/>
    <dgm:cxn modelId="{EB5CF53D-891C-489D-A5BC-4ABBBADD05C6}" type="presOf" srcId="{60CDF8D0-D4FC-4467-A51E-79C5A58B0B2C}" destId="{864CB39B-29F9-473D-90E5-0686D86E278F}" srcOrd="0" destOrd="0" presId="urn:microsoft.com/office/officeart/2005/8/layout/list1"/>
    <dgm:cxn modelId="{80D31340-DF71-498E-A736-57EEB1E2CF66}" type="presOf" srcId="{50629C12-7464-4473-ADEF-1A284F8A9957}" destId="{964E6811-5072-4466-B721-689C35A65029}" srcOrd="0" destOrd="0" presId="urn:microsoft.com/office/officeart/2005/8/layout/list1"/>
    <dgm:cxn modelId="{35E51344-8990-43B9-992C-B097ADD30CDD}" type="presOf" srcId="{3929B1E1-4BC4-4C73-ABE8-27CEF96A3652}" destId="{21EEBBE2-729F-4D85-8CAE-C2B30FF126D2}" srcOrd="1" destOrd="0" presId="urn:microsoft.com/office/officeart/2005/8/layout/list1"/>
    <dgm:cxn modelId="{018BF54A-528B-43B1-81D2-397C1F3E269B}" type="presOf" srcId="{4DF9FE7B-F642-4898-A360-D4E3814E1A3D}" destId="{674922F1-7266-4681-AD4F-1C618A5FFF23}" srcOrd="1" destOrd="0" presId="urn:microsoft.com/office/officeart/2005/8/layout/list1"/>
    <dgm:cxn modelId="{E285B570-A936-4A7A-BA62-C7467521231B}" type="presOf" srcId="{3929B1E1-4BC4-4C73-ABE8-27CEF96A3652}" destId="{D0037F0D-DB9A-4BA4-97B4-D939B26E14DA}" srcOrd="0" destOrd="0" presId="urn:microsoft.com/office/officeart/2005/8/layout/list1"/>
    <dgm:cxn modelId="{F0845B7D-AB8D-48F2-901D-9DB5785551D3}" type="presOf" srcId="{EFF2750D-B4B3-474C-8B62-8B638DC31F7E}" destId="{80259B02-529C-422B-91BE-D70198BA9F6C}" srcOrd="0" destOrd="0" presId="urn:microsoft.com/office/officeart/2005/8/layout/list1"/>
    <dgm:cxn modelId="{EFDAA789-DB27-4EB1-8A06-F0A793A25997}" type="presOf" srcId="{0791135C-9DAB-47F6-BE9C-A3E56A2DDA50}" destId="{5282638F-EFF2-4770-BB1A-21455422E45D}" srcOrd="0" destOrd="1" presId="urn:microsoft.com/office/officeart/2005/8/layout/list1"/>
    <dgm:cxn modelId="{EBD8BE8D-6018-43E2-B081-034BB5656EB6}" srcId="{3F442EA2-39BA-4C9A-AD59-755D4917D532}" destId="{4DF9FE7B-F642-4898-A360-D4E3814E1A3D}" srcOrd="0" destOrd="0" parTransId="{1C10F06D-860A-4604-A7AD-02E614FE3976}" sibTransId="{43C18EFF-81FC-4D70-8C6B-E95FF3730413}"/>
    <dgm:cxn modelId="{29B61D9A-E463-4A4D-9F06-37CB9E2799D7}" srcId="{3929B1E1-4BC4-4C73-ABE8-27CEF96A3652}" destId="{3117AF55-1F69-493B-8E94-B8EEBB900C5D}" srcOrd="2" destOrd="0" parTransId="{B981D05E-AD3E-4EAE-8180-9927C047831D}" sibTransId="{DDCB3882-60A2-48BA-ACB0-E2DF509F103B}"/>
    <dgm:cxn modelId="{B3B26E9A-58E5-497B-BD59-F5567958C609}" srcId="{3929B1E1-4BC4-4C73-ABE8-27CEF96A3652}" destId="{0791135C-9DAB-47F6-BE9C-A3E56A2DDA50}" srcOrd="1" destOrd="0" parTransId="{D6057E63-9793-4991-97C1-30FC405E95A5}" sibTransId="{B670C2A7-83CB-4F4C-BC19-A3A7C066A822}"/>
    <dgm:cxn modelId="{09FCCB9D-A30A-4326-970E-26252D39327F}" srcId="{3929B1E1-4BC4-4C73-ABE8-27CEF96A3652}" destId="{99E0600D-9954-43F4-8926-13B8777FAAA1}" srcOrd="0" destOrd="0" parTransId="{BE23F476-2C5C-42ED-BF2B-CD5FC7ADDDF6}" sibTransId="{C44937DC-4907-4769-AA8B-1B3E7391D7B0}"/>
    <dgm:cxn modelId="{A058DDA2-48CA-4E5B-B389-F71A59C262B0}" srcId="{4DF9FE7B-F642-4898-A360-D4E3814E1A3D}" destId="{EFF2750D-B4B3-474C-8B62-8B638DC31F7E}" srcOrd="0" destOrd="0" parTransId="{AEBC78E6-CDDC-4C8F-A157-3C51E907FACD}" sibTransId="{75C067D7-FCD2-4969-8F27-4BBDA88E75ED}"/>
    <dgm:cxn modelId="{430BDFA4-DC50-4C78-BCB6-6A97557D15AE}" type="presOf" srcId="{4DF9FE7B-F642-4898-A360-D4E3814E1A3D}" destId="{7E290D25-335D-4339-A8E8-B036E46B5EB5}" srcOrd="0" destOrd="0" presId="urn:microsoft.com/office/officeart/2005/8/layout/list1"/>
    <dgm:cxn modelId="{5F74B6B9-0865-492F-9595-1BB74A8ACAA2}" type="presOf" srcId="{60CDF8D0-D4FC-4467-A51E-79C5A58B0B2C}" destId="{5B203A22-00AF-46E7-9415-C6DAFD7E01CC}" srcOrd="1" destOrd="0" presId="urn:microsoft.com/office/officeart/2005/8/layout/list1"/>
    <dgm:cxn modelId="{C72D39C4-414B-4133-BC0D-3A2B6F6631C8}" srcId="{60CDF8D0-D4FC-4467-A51E-79C5A58B0B2C}" destId="{781B1F4C-DE92-474A-AF07-52014810ADA1}" srcOrd="1" destOrd="0" parTransId="{BCA02010-0F93-4B29-A4DE-2F951476D5BA}" sibTransId="{50B85641-8D95-40C6-96BD-22F72789EE8A}"/>
    <dgm:cxn modelId="{F4F52BC5-A631-4BF9-9722-585B968BAF3A}" type="presOf" srcId="{781B1F4C-DE92-474A-AF07-52014810ADA1}" destId="{964E6811-5072-4466-B721-689C35A65029}" srcOrd="0" destOrd="1" presId="urn:microsoft.com/office/officeart/2005/8/layout/list1"/>
    <dgm:cxn modelId="{1D32FCC9-657C-4348-9C0D-52115D559FEB}" srcId="{60CDF8D0-D4FC-4467-A51E-79C5A58B0B2C}" destId="{50629C12-7464-4473-ADEF-1A284F8A9957}" srcOrd="0" destOrd="0" parTransId="{9D1CB46C-0CFA-4B27-9224-267431FBD094}" sibTransId="{4576BCC5-0598-4332-A2E7-87AC3ADD4EB8}"/>
    <dgm:cxn modelId="{CF691AD2-C90E-4941-8C04-594750DB4D55}" type="presOf" srcId="{789CD6DB-3A68-4A41-90BD-4F0CBB3617D1}" destId="{80259B02-529C-422B-91BE-D70198BA9F6C}" srcOrd="0" destOrd="1" presId="urn:microsoft.com/office/officeart/2005/8/layout/list1"/>
    <dgm:cxn modelId="{F327B1E4-1DEF-4944-9B7B-0D4B210D709B}" type="presOf" srcId="{3F442EA2-39BA-4C9A-AD59-755D4917D532}" destId="{E6A445EE-D086-4B01-B491-D67950A5A065}" srcOrd="0" destOrd="0" presId="urn:microsoft.com/office/officeart/2005/8/layout/list1"/>
    <dgm:cxn modelId="{2BA65DEC-E719-4ED3-8135-48349D42DD04}" srcId="{3F442EA2-39BA-4C9A-AD59-755D4917D532}" destId="{60CDF8D0-D4FC-4467-A51E-79C5A58B0B2C}" srcOrd="2" destOrd="0" parTransId="{E12A269F-AB82-486A-9077-80F2BBBE48C2}" sibTransId="{3F7FD59D-A716-4310-A89A-AB6F740D9FFF}"/>
    <dgm:cxn modelId="{937D19ED-A384-4A38-8FCF-5DE84408C161}" type="presOf" srcId="{99E0600D-9954-43F4-8926-13B8777FAAA1}" destId="{5282638F-EFF2-4770-BB1A-21455422E45D}" srcOrd="0" destOrd="0" presId="urn:microsoft.com/office/officeart/2005/8/layout/list1"/>
    <dgm:cxn modelId="{75C9B1AC-5A87-4668-B02D-82E3A7B3DE32}" type="presParOf" srcId="{E6A445EE-D086-4B01-B491-D67950A5A065}" destId="{6D3A9625-D3EB-4CA1-AB05-34452283708A}" srcOrd="0" destOrd="0" presId="urn:microsoft.com/office/officeart/2005/8/layout/list1"/>
    <dgm:cxn modelId="{0BC5A9A0-4F1E-47F7-9633-5DB4606195A3}" type="presParOf" srcId="{6D3A9625-D3EB-4CA1-AB05-34452283708A}" destId="{7E290D25-335D-4339-A8E8-B036E46B5EB5}" srcOrd="0" destOrd="0" presId="urn:microsoft.com/office/officeart/2005/8/layout/list1"/>
    <dgm:cxn modelId="{A5CF6AF8-B27D-4252-8C00-D45C5CA66C33}" type="presParOf" srcId="{6D3A9625-D3EB-4CA1-AB05-34452283708A}" destId="{674922F1-7266-4681-AD4F-1C618A5FFF23}" srcOrd="1" destOrd="0" presId="urn:microsoft.com/office/officeart/2005/8/layout/list1"/>
    <dgm:cxn modelId="{53BC635B-B66B-4BB6-B67B-5E308E6DBB8D}" type="presParOf" srcId="{E6A445EE-D086-4B01-B491-D67950A5A065}" destId="{96C29850-0672-4B77-B5DE-2E1563038631}" srcOrd="1" destOrd="0" presId="urn:microsoft.com/office/officeart/2005/8/layout/list1"/>
    <dgm:cxn modelId="{95DA9A8E-E307-40CE-8345-1BA865FF3808}" type="presParOf" srcId="{E6A445EE-D086-4B01-B491-D67950A5A065}" destId="{80259B02-529C-422B-91BE-D70198BA9F6C}" srcOrd="2" destOrd="0" presId="urn:microsoft.com/office/officeart/2005/8/layout/list1"/>
    <dgm:cxn modelId="{9A391751-1CCB-4059-942E-743D33194855}" type="presParOf" srcId="{E6A445EE-D086-4B01-B491-D67950A5A065}" destId="{E53EFB4E-D3DB-42E1-82AC-148F7D29254F}" srcOrd="3" destOrd="0" presId="urn:microsoft.com/office/officeart/2005/8/layout/list1"/>
    <dgm:cxn modelId="{2C863F8C-313B-4956-93D2-7FCD89C736AB}" type="presParOf" srcId="{E6A445EE-D086-4B01-B491-D67950A5A065}" destId="{07AC1C38-F728-4390-9C76-57A49ED97DBB}" srcOrd="4" destOrd="0" presId="urn:microsoft.com/office/officeart/2005/8/layout/list1"/>
    <dgm:cxn modelId="{4411D49A-18D1-42F6-8D11-5A3F7F2C55D6}" type="presParOf" srcId="{07AC1C38-F728-4390-9C76-57A49ED97DBB}" destId="{D0037F0D-DB9A-4BA4-97B4-D939B26E14DA}" srcOrd="0" destOrd="0" presId="urn:microsoft.com/office/officeart/2005/8/layout/list1"/>
    <dgm:cxn modelId="{C913ED4B-5AB4-4497-A8B7-45000178B74A}" type="presParOf" srcId="{07AC1C38-F728-4390-9C76-57A49ED97DBB}" destId="{21EEBBE2-729F-4D85-8CAE-C2B30FF126D2}" srcOrd="1" destOrd="0" presId="urn:microsoft.com/office/officeart/2005/8/layout/list1"/>
    <dgm:cxn modelId="{1F12AF40-6796-4B49-A65B-1323D4DD25E1}" type="presParOf" srcId="{E6A445EE-D086-4B01-B491-D67950A5A065}" destId="{AACB3FAF-C320-430D-84D4-71BA6D1761D1}" srcOrd="5" destOrd="0" presId="urn:microsoft.com/office/officeart/2005/8/layout/list1"/>
    <dgm:cxn modelId="{AE66D236-6310-4110-907D-22C916DED3A3}" type="presParOf" srcId="{E6A445EE-D086-4B01-B491-D67950A5A065}" destId="{5282638F-EFF2-4770-BB1A-21455422E45D}" srcOrd="6" destOrd="0" presId="urn:microsoft.com/office/officeart/2005/8/layout/list1"/>
    <dgm:cxn modelId="{4793FE60-C989-41E7-A6EC-0A403449CC36}" type="presParOf" srcId="{E6A445EE-D086-4B01-B491-D67950A5A065}" destId="{8CE827AA-77D8-4146-A665-00110A17769E}" srcOrd="7" destOrd="0" presId="urn:microsoft.com/office/officeart/2005/8/layout/list1"/>
    <dgm:cxn modelId="{22F313A2-F765-43D6-8B6F-EF2B55C821F8}" type="presParOf" srcId="{E6A445EE-D086-4B01-B491-D67950A5A065}" destId="{34C9EE47-81AF-461E-8292-AB107AA0D367}" srcOrd="8" destOrd="0" presId="urn:microsoft.com/office/officeart/2005/8/layout/list1"/>
    <dgm:cxn modelId="{BD52494E-F681-4692-AFC6-7513E4A24BB4}" type="presParOf" srcId="{34C9EE47-81AF-461E-8292-AB107AA0D367}" destId="{864CB39B-29F9-473D-90E5-0686D86E278F}" srcOrd="0" destOrd="0" presId="urn:microsoft.com/office/officeart/2005/8/layout/list1"/>
    <dgm:cxn modelId="{A8A5359E-B633-4BA4-8664-FE0F537F9A06}" type="presParOf" srcId="{34C9EE47-81AF-461E-8292-AB107AA0D367}" destId="{5B203A22-00AF-46E7-9415-C6DAFD7E01CC}" srcOrd="1" destOrd="0" presId="urn:microsoft.com/office/officeart/2005/8/layout/list1"/>
    <dgm:cxn modelId="{2B588F7A-522A-45A2-B858-D88FDBA6908E}" type="presParOf" srcId="{E6A445EE-D086-4B01-B491-D67950A5A065}" destId="{DF9C1F84-81DE-4E5D-9537-C2D1A211B8B6}" srcOrd="9" destOrd="0" presId="urn:microsoft.com/office/officeart/2005/8/layout/list1"/>
    <dgm:cxn modelId="{68E9C99B-8CA3-47B3-AE4C-90B903FF01B8}" type="presParOf" srcId="{E6A445EE-D086-4B01-B491-D67950A5A065}" destId="{964E6811-5072-4466-B721-689C35A65029}"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59B02-529C-422B-91BE-D70198BA9F6C}">
      <dsp:nvSpPr>
        <dsp:cNvPr id="0" name=""/>
        <dsp:cNvSpPr/>
      </dsp:nvSpPr>
      <dsp:spPr>
        <a:xfrm>
          <a:off x="0" y="716988"/>
          <a:ext cx="2950354" cy="874125"/>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980" tIns="312420" rIns="228980"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t>Morphine</a:t>
          </a:r>
        </a:p>
        <a:p>
          <a:pPr marL="114300" lvl="1" indent="-114300" algn="l" defTabSz="666750">
            <a:lnSpc>
              <a:spcPct val="90000"/>
            </a:lnSpc>
            <a:spcBef>
              <a:spcPct val="0"/>
            </a:spcBef>
            <a:spcAft>
              <a:spcPct val="15000"/>
            </a:spcAft>
            <a:buChar char="•"/>
          </a:pPr>
          <a:r>
            <a:rPr lang="en-US" sz="1500" kern="1200"/>
            <a:t>Codeine</a:t>
          </a:r>
        </a:p>
      </dsp:txBody>
      <dsp:txXfrm>
        <a:off x="0" y="716988"/>
        <a:ext cx="2950354" cy="874125"/>
      </dsp:txXfrm>
    </dsp:sp>
    <dsp:sp modelId="{674922F1-7266-4681-AD4F-1C618A5FFF23}">
      <dsp:nvSpPr>
        <dsp:cNvPr id="0" name=""/>
        <dsp:cNvSpPr/>
      </dsp:nvSpPr>
      <dsp:spPr>
        <a:xfrm>
          <a:off x="147517" y="496647"/>
          <a:ext cx="2065247" cy="4428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061" tIns="0" rIns="78061" bIns="0" numCol="1" spcCol="1270" anchor="ctr" anchorCtr="0">
          <a:noAutofit/>
        </a:bodyPr>
        <a:lstStyle/>
        <a:p>
          <a:pPr marL="0" lvl="0" indent="0" algn="l" defTabSz="666750">
            <a:lnSpc>
              <a:spcPct val="90000"/>
            </a:lnSpc>
            <a:spcBef>
              <a:spcPct val="0"/>
            </a:spcBef>
            <a:spcAft>
              <a:spcPct val="35000"/>
            </a:spcAft>
            <a:buNone/>
          </a:pPr>
          <a:r>
            <a:rPr lang="en-US" sz="1500" kern="1200"/>
            <a:t>Natural opiates </a:t>
          </a:r>
        </a:p>
      </dsp:txBody>
      <dsp:txXfrm>
        <a:off x="169133" y="518263"/>
        <a:ext cx="2022015" cy="399568"/>
      </dsp:txXfrm>
    </dsp:sp>
    <dsp:sp modelId="{5282638F-EFF2-4770-BB1A-21455422E45D}">
      <dsp:nvSpPr>
        <dsp:cNvPr id="0" name=""/>
        <dsp:cNvSpPr/>
      </dsp:nvSpPr>
      <dsp:spPr>
        <a:xfrm>
          <a:off x="0" y="1894572"/>
          <a:ext cx="2950354" cy="11340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980" tIns="312420" rIns="228980"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t>Oxycodone</a:t>
          </a:r>
        </a:p>
        <a:p>
          <a:pPr marL="114300" lvl="1" indent="-114300" algn="l" defTabSz="666750">
            <a:lnSpc>
              <a:spcPct val="90000"/>
            </a:lnSpc>
            <a:spcBef>
              <a:spcPct val="0"/>
            </a:spcBef>
            <a:spcAft>
              <a:spcPct val="15000"/>
            </a:spcAft>
            <a:buChar char="•"/>
          </a:pPr>
          <a:r>
            <a:rPr lang="en-US" sz="1500" kern="1200"/>
            <a:t>Hydrocodone</a:t>
          </a:r>
        </a:p>
        <a:p>
          <a:pPr marL="114300" lvl="1" indent="-114300" algn="l" defTabSz="666750">
            <a:lnSpc>
              <a:spcPct val="90000"/>
            </a:lnSpc>
            <a:spcBef>
              <a:spcPct val="0"/>
            </a:spcBef>
            <a:spcAft>
              <a:spcPct val="15000"/>
            </a:spcAft>
            <a:buChar char="•"/>
          </a:pPr>
          <a:r>
            <a:rPr lang="en-US" sz="1500" kern="1200"/>
            <a:t>Hydromorphone</a:t>
          </a:r>
        </a:p>
      </dsp:txBody>
      <dsp:txXfrm>
        <a:off x="0" y="1894572"/>
        <a:ext cx="2950354" cy="1134000"/>
      </dsp:txXfrm>
    </dsp:sp>
    <dsp:sp modelId="{21EEBBE2-729F-4D85-8CAE-C2B30FF126D2}">
      <dsp:nvSpPr>
        <dsp:cNvPr id="0" name=""/>
        <dsp:cNvSpPr/>
      </dsp:nvSpPr>
      <dsp:spPr>
        <a:xfrm>
          <a:off x="147517" y="1673172"/>
          <a:ext cx="2065247" cy="4428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061" tIns="0" rIns="78061" bIns="0" numCol="1" spcCol="1270" anchor="ctr" anchorCtr="0">
          <a:noAutofit/>
        </a:bodyPr>
        <a:lstStyle/>
        <a:p>
          <a:pPr marL="0" lvl="0" indent="0" algn="l" defTabSz="666750">
            <a:lnSpc>
              <a:spcPct val="90000"/>
            </a:lnSpc>
            <a:spcBef>
              <a:spcPct val="0"/>
            </a:spcBef>
            <a:spcAft>
              <a:spcPct val="35000"/>
            </a:spcAft>
            <a:buNone/>
          </a:pPr>
          <a:r>
            <a:rPr lang="en-US" sz="1500" kern="1200"/>
            <a:t>Semi- synthetic opioids</a:t>
          </a:r>
        </a:p>
      </dsp:txBody>
      <dsp:txXfrm>
        <a:off x="169133" y="1694788"/>
        <a:ext cx="2022015" cy="399568"/>
      </dsp:txXfrm>
    </dsp:sp>
    <dsp:sp modelId="{964E6811-5072-4466-B721-689C35A65029}">
      <dsp:nvSpPr>
        <dsp:cNvPr id="0" name=""/>
        <dsp:cNvSpPr/>
      </dsp:nvSpPr>
      <dsp:spPr>
        <a:xfrm>
          <a:off x="0" y="3330972"/>
          <a:ext cx="2950354" cy="874125"/>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980" tIns="312420" rIns="228980" bIns="106680" numCol="1" spcCol="1270" anchor="t" anchorCtr="0">
          <a:noAutofit/>
        </a:bodyPr>
        <a:lstStyle/>
        <a:p>
          <a:pPr marL="114300" lvl="1" indent="-114300" algn="l" defTabSz="666750">
            <a:lnSpc>
              <a:spcPct val="90000"/>
            </a:lnSpc>
            <a:spcBef>
              <a:spcPct val="0"/>
            </a:spcBef>
            <a:spcAft>
              <a:spcPct val="15000"/>
            </a:spcAft>
            <a:buChar char="•"/>
          </a:pPr>
          <a:r>
            <a:rPr lang="en-US" sz="1500" kern="1200"/>
            <a:t>Fentanyl</a:t>
          </a:r>
        </a:p>
        <a:p>
          <a:pPr marL="114300" lvl="1" indent="-114300" algn="l" defTabSz="666750">
            <a:lnSpc>
              <a:spcPct val="90000"/>
            </a:lnSpc>
            <a:spcBef>
              <a:spcPct val="0"/>
            </a:spcBef>
            <a:spcAft>
              <a:spcPct val="15000"/>
            </a:spcAft>
            <a:buChar char="•"/>
          </a:pPr>
          <a:r>
            <a:rPr lang="en-US" sz="1500" kern="1200" err="1"/>
            <a:t>Tramodol</a:t>
          </a:r>
          <a:endParaRPr lang="en-US" sz="1500" kern="1200"/>
        </a:p>
      </dsp:txBody>
      <dsp:txXfrm>
        <a:off x="0" y="3330972"/>
        <a:ext cx="2950354" cy="874125"/>
      </dsp:txXfrm>
    </dsp:sp>
    <dsp:sp modelId="{5B203A22-00AF-46E7-9415-C6DAFD7E01CC}">
      <dsp:nvSpPr>
        <dsp:cNvPr id="0" name=""/>
        <dsp:cNvSpPr/>
      </dsp:nvSpPr>
      <dsp:spPr>
        <a:xfrm>
          <a:off x="147517" y="3109572"/>
          <a:ext cx="2065247" cy="4428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061" tIns="0" rIns="78061" bIns="0" numCol="1" spcCol="1270" anchor="ctr" anchorCtr="0">
          <a:noAutofit/>
        </a:bodyPr>
        <a:lstStyle/>
        <a:p>
          <a:pPr marL="0" lvl="0" indent="0" algn="l" defTabSz="666750">
            <a:lnSpc>
              <a:spcPct val="90000"/>
            </a:lnSpc>
            <a:spcBef>
              <a:spcPct val="0"/>
            </a:spcBef>
            <a:spcAft>
              <a:spcPct val="35000"/>
            </a:spcAft>
            <a:buNone/>
          </a:pPr>
          <a:r>
            <a:rPr lang="en-US" sz="1500" kern="1200"/>
            <a:t>Fully synthetic opioids</a:t>
          </a:r>
        </a:p>
      </dsp:txBody>
      <dsp:txXfrm>
        <a:off x="169133" y="3131188"/>
        <a:ext cx="2022015"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1/17/2026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1/17/2026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232957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2</a:t>
            </a:fld>
            <a:endParaRPr lang="en-US"/>
          </a:p>
        </p:txBody>
      </p:sp>
    </p:spTree>
    <p:extLst>
      <p:ext uri="{BB962C8B-B14F-4D97-AF65-F5344CB8AC3E}">
        <p14:creationId xmlns:p14="http://schemas.microsoft.com/office/powerpoint/2010/main" val="3635406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2311636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10090-E2B5-4AD7-9A38-6B6563575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5F112B-9DAE-4C37-FCB8-517D64F84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ED2AE-8198-C81E-B07E-C158B4A20E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02DA77F-3560-C79C-0BC5-2E5AB4D26863}"/>
              </a:ext>
            </a:extLst>
          </p:cNvPr>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6741241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ltGray">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428669" y="1600200"/>
            <a:ext cx="8329031" cy="2680127"/>
          </a:xfrm>
        </p:spPr>
        <p:txBody>
          <a:bodyPr>
            <a:noAutofit/>
          </a:bodyPr>
          <a:lstStyle>
            <a:lvl1pPr>
              <a:defRPr sz="5400">
                <a:solidFill>
                  <a:schemeClr val="tx2">
                    <a:lumMod val="75000"/>
                  </a:schemeClr>
                </a:solidFill>
              </a:defRPr>
            </a:lvl1pPr>
          </a:lstStyle>
          <a:p>
            <a:r>
              <a:rPr lang="en-US"/>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a:xfrm>
            <a:off x="4699025" y="6356351"/>
            <a:ext cx="1218883" cy="365125"/>
          </a:xfrm>
        </p:spPr>
        <p:txBody>
          <a:bodyPr/>
          <a:lstStyle>
            <a:lvl1pPr>
              <a:defRPr>
                <a:solidFill>
                  <a:schemeClr val="tx1"/>
                </a:solidFill>
              </a:defRPr>
            </a:lvl1pPr>
          </a:lstStyle>
          <a:p>
            <a:fld id="{80BBE6BF-C811-45BB-8BA9-22EFF2B83FFA}" type="datetime1">
              <a:rPr lang="en-US" smtClean="0"/>
              <a:t>1/17/2026</a:t>
            </a:fld>
            <a:endParaRPr lang="en-US"/>
          </a:p>
        </p:txBody>
      </p:sp>
      <p:sp>
        <p:nvSpPr>
          <p:cNvPr id="5" name="Footer Placeholder 4"/>
          <p:cNvSpPr>
            <a:spLocks noGrp="1"/>
          </p:cNvSpPr>
          <p:nvPr>
            <p:ph type="ftr" sz="quarter" idx="11"/>
          </p:nvPr>
        </p:nvSpPr>
        <p:spPr>
          <a:xfrm>
            <a:off x="6114708" y="6356351"/>
            <a:ext cx="3974065" cy="365125"/>
          </a:xfrm>
        </p:spPr>
        <p:txBody>
          <a:bodyPr/>
          <a:lstStyle>
            <a:lvl1pPr>
              <a:defRPr>
                <a:solidFill>
                  <a:schemeClr val="tx1"/>
                </a:solidFill>
              </a:defRPr>
            </a:lvl1pPr>
          </a:lstStyle>
          <a:p>
            <a:r>
              <a:rPr lang="en-US"/>
              <a:t>Add a footer</a:t>
            </a:r>
          </a:p>
        </p:txBody>
      </p:sp>
      <p:sp>
        <p:nvSpPr>
          <p:cNvPr id="6" name="Slide Number Placeholder 5"/>
          <p:cNvSpPr>
            <a:spLocks noGrp="1"/>
          </p:cNvSpPr>
          <p:nvPr>
            <p:ph type="sldNum" sz="quarter" idx="12"/>
          </p:nvPr>
        </p:nvSpPr>
        <p:spPr>
          <a:xfrm>
            <a:off x="10285571" y="6356351"/>
            <a:ext cx="609441" cy="365125"/>
          </a:xfrm>
        </p:spPr>
        <p:txBody>
          <a:bodyPr/>
          <a:lstStyle>
            <a:lvl1pPr>
              <a:defRPr>
                <a:solidFill>
                  <a:schemeClr val="tx1"/>
                </a:solidFill>
              </a:defRPr>
            </a:lvl1pPr>
          </a:lstStyle>
          <a:p>
            <a:fld id="{7DC1BBB0-96F0-4077-A278-0F3FB5C104D3}" type="slidenum">
              <a:rPr lang="en-US" smtClean="0"/>
              <a:pPr/>
              <a:t>‹#›</a:t>
            </a:fld>
            <a:endParaRPr lang="en-US"/>
          </a:p>
        </p:txBody>
      </p:sp>
      <p:pic>
        <p:nvPicPr>
          <p:cNvPr id="55" name="Picture 2"/>
          <p:cNvPicPr>
            <a:picLocks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ltGray">
          <a:xfrm>
            <a:off x="0" y="0"/>
            <a:ext cx="1803400" cy="6858000"/>
          </a:xfrm>
          <a:prstGeom prst="rect">
            <a:avLst/>
          </a:prstGeom>
          <a:noFill/>
          <a:ln>
            <a:noFill/>
          </a:ln>
        </p:spPr>
      </p:pic>
      <p:sp>
        <p:nvSpPr>
          <p:cNvPr id="36" name="Rectangle 35"/>
          <p:cNvSpPr/>
          <p:nvPr userDrawn="1"/>
        </p:nvSpPr>
        <p:spPr>
          <a:xfrm>
            <a:off x="11892563" y="0"/>
            <a:ext cx="304721"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301147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a:p>
        </p:txBody>
      </p:sp>
      <p:sp>
        <p:nvSpPr>
          <p:cNvPr id="3" name="Content Placeholder 2"/>
          <p:cNvSpPr>
            <a:spLocks noGrp="1"/>
          </p:cNvSpPr>
          <p:nvPr>
            <p:ph idx="1" hasCustomPrompt="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lvl1pPr>
              <a:defRPr>
                <a:solidFill>
                  <a:schemeClr val="tx1"/>
                </a:solidFill>
              </a:defRPr>
            </a:lvl1pPr>
          </a:lstStyle>
          <a:p>
            <a:fld id="{F39362CC-4597-4E8E-AFE5-237B3DA1FF07}" type="datetime1">
              <a:rPr lang="en-US" smtClean="0"/>
              <a:t>1/17/2026</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Add a footer</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1532199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19454" y="1600201"/>
            <a:ext cx="8283272" cy="2654064"/>
          </a:xfrm>
        </p:spPr>
        <p:txBody>
          <a:bodyPr anchor="b">
            <a:normAutofit/>
          </a:bodyPr>
          <a:lstStyle>
            <a:lvl1pPr algn="l">
              <a:defRPr sz="5400" b="0" cap="none" baseline="0">
                <a:solidFill>
                  <a:schemeClr val="tx2">
                    <a:lumMod val="75000"/>
                  </a:schemeClr>
                </a:solidFill>
              </a:defRPr>
            </a:lvl1pPr>
          </a:lstStyle>
          <a:p>
            <a:r>
              <a:rPr lang="en-US"/>
              <a:t>Click to edit Master title style</a:t>
            </a:r>
            <a:endParaRPr/>
          </a:p>
        </p:txBody>
      </p:sp>
      <p:sp>
        <p:nvSpPr>
          <p:cNvPr id="3" name="Text Placeholder 2"/>
          <p:cNvSpPr>
            <a:spLocks noGrp="1"/>
          </p:cNvSpPr>
          <p:nvPr>
            <p:ph type="body" idx="1"/>
          </p:nvPr>
        </p:nvSpPr>
        <p:spPr>
          <a:xfrm>
            <a:off x="1919454" y="4259996"/>
            <a:ext cx="7264623" cy="1150203"/>
          </a:xfrm>
        </p:spPr>
        <p:txBody>
          <a:bodyPr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1"/>
                </a:solidFill>
              </a:defRPr>
            </a:lvl1pPr>
          </a:lstStyle>
          <a:p>
            <a:fld id="{E1F63988-78D4-46C4-B808-1786C6A42859}" type="datetime1">
              <a:rPr lang="en-US" smtClean="0"/>
              <a:t>1/17/2026</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t>Add a footer</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pic>
        <p:nvPicPr>
          <p:cNvPr id="7"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ltGray">
          <a:xfrm>
            <a:off x="0" y="0"/>
            <a:ext cx="1803400" cy="6858000"/>
          </a:xfrm>
          <a:prstGeom prst="rect">
            <a:avLst/>
          </a:prstGeom>
          <a:noFill/>
          <a:ln>
            <a:noFill/>
          </a:ln>
        </p:spPr>
      </p:pic>
      <p:sp>
        <p:nvSpPr>
          <p:cNvPr id="9" name="Rectangle 8"/>
          <p:cNvSpPr/>
          <p:nvPr/>
        </p:nvSpPr>
        <p:spPr>
          <a:xfrm>
            <a:off x="11892563" y="0"/>
            <a:ext cx="304721" cy="6858000"/>
          </a:xfrm>
          <a:prstGeom prst="rect">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312873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a:p>
        </p:txBody>
      </p:sp>
      <p:sp>
        <p:nvSpPr>
          <p:cNvPr id="3" name="Content Placeholder 2"/>
          <p:cNvSpPr>
            <a:spLocks noGrp="1"/>
          </p:cNvSpPr>
          <p:nvPr>
            <p:ph sz="half" idx="1" hasCustomPrompt="1"/>
          </p:nvPr>
        </p:nvSpPr>
        <p:spPr>
          <a:xfrm>
            <a:off x="1935496" y="1600200"/>
            <a:ext cx="4572000" cy="4572000"/>
          </a:xfr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hasCustomPrompt="1"/>
          </p:nvPr>
        </p:nvSpPr>
        <p:spPr>
          <a:xfrm>
            <a:off x="6824328" y="1600200"/>
            <a:ext cx="4572000" cy="4572000"/>
          </a:xfrm>
        </p:spPr>
        <p:txBody>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baseline="0"/>
            </a:lvl6pPr>
            <a:lvl7pPr>
              <a:defRPr sz="1800" baseline="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lvl1pPr>
              <a:defRPr>
                <a:solidFill>
                  <a:schemeClr val="tx1"/>
                </a:solidFill>
              </a:defRPr>
            </a:lvl1pPr>
          </a:lstStyle>
          <a:p>
            <a:fld id="{A482C1EE-CCC0-4F27-8918-BF938AC1419F}" type="datetime1">
              <a:rPr lang="en-US" smtClean="0"/>
              <a:t>1/17/2026</a:t>
            </a:fld>
            <a:endParaRPr lang="en-US"/>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Add a footer</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105384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03413" y="177800"/>
            <a:ext cx="9472824" cy="1239837"/>
          </a:xfrm>
        </p:spPr>
        <p:txBody>
          <a:bodyPr/>
          <a:lstStyle>
            <a:lvl1pPr>
              <a:defRPr>
                <a:solidFill>
                  <a:schemeClr val="tx2">
                    <a:lumMod val="75000"/>
                  </a:schemeClr>
                </a:solidFill>
              </a:defRPr>
            </a:lvl1pPr>
          </a:lstStyle>
          <a:p>
            <a:r>
              <a:rPr lang="en-US"/>
              <a:t>Click to edit Master title style</a:t>
            </a:r>
            <a:endParaRPr/>
          </a:p>
        </p:txBody>
      </p:sp>
      <p:sp>
        <p:nvSpPr>
          <p:cNvPr id="3" name="Text Placeholder 2"/>
          <p:cNvSpPr>
            <a:spLocks noGrp="1"/>
          </p:cNvSpPr>
          <p:nvPr>
            <p:ph type="body" idx="1"/>
          </p:nvPr>
        </p:nvSpPr>
        <p:spPr>
          <a:xfrm>
            <a:off x="1936615" y="1499616"/>
            <a:ext cx="4572000" cy="938784"/>
          </a:xfrm>
        </p:spPr>
        <p:txBody>
          <a:bodyPr anchor="b">
            <a:noAutofit/>
          </a:bodyPr>
          <a:lstStyle>
            <a:lvl1pPr marL="0" indent="0">
              <a:spcBef>
                <a:spcPts val="0"/>
              </a:spcBef>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1936615" y="2514706"/>
            <a:ext cx="4572000" cy="3657493"/>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824328" y="1499616"/>
            <a:ext cx="4572000" cy="938784"/>
          </a:xfrm>
        </p:spPr>
        <p:txBody>
          <a:bodyPr anchor="b">
            <a:noAutofit/>
          </a:bodyPr>
          <a:lstStyle>
            <a:lvl1pPr marL="0" indent="0">
              <a:spcBef>
                <a:spcPts val="0"/>
              </a:spcBef>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hasCustomPrompt="1"/>
          </p:nvPr>
        </p:nvSpPr>
        <p:spPr>
          <a:xfrm>
            <a:off x="6824328" y="2514600"/>
            <a:ext cx="4572000" cy="3655568"/>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lvl1pPr>
              <a:defRPr>
                <a:solidFill>
                  <a:schemeClr val="tx1"/>
                </a:solidFill>
              </a:defRPr>
            </a:lvl1pPr>
          </a:lstStyle>
          <a:p>
            <a:fld id="{B9A0C48B-9D86-4C33-9BD3-2929B1D74E3D}" type="datetime1">
              <a:rPr lang="en-US" smtClean="0"/>
              <a:t>1/17/2026</a:t>
            </a:fld>
            <a:endParaRPr lang="en-US"/>
          </a:p>
        </p:txBody>
      </p:sp>
      <p:sp>
        <p:nvSpPr>
          <p:cNvPr id="8" name="Footer Placeholder 7"/>
          <p:cNvSpPr>
            <a:spLocks noGrp="1"/>
          </p:cNvSpPr>
          <p:nvPr>
            <p:ph type="ftr" sz="quarter" idx="11"/>
          </p:nvPr>
        </p:nvSpPr>
        <p:spPr/>
        <p:txBody>
          <a:bodyPr/>
          <a:lstStyle>
            <a:lvl1pPr>
              <a:defRPr>
                <a:solidFill>
                  <a:schemeClr val="tx1"/>
                </a:solidFill>
              </a:defRPr>
            </a:lvl1pPr>
          </a:lstStyle>
          <a:p>
            <a:r>
              <a:rPr lang="en-US"/>
              <a:t>Add a footer</a:t>
            </a:r>
          </a:p>
        </p:txBody>
      </p:sp>
      <p:sp>
        <p:nvSpPr>
          <p:cNvPr id="9" name="Slide Number Placeholder 8"/>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848964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a:p>
        </p:txBody>
      </p:sp>
      <p:sp>
        <p:nvSpPr>
          <p:cNvPr id="3" name="Date Placeholder 2"/>
          <p:cNvSpPr>
            <a:spLocks noGrp="1"/>
          </p:cNvSpPr>
          <p:nvPr>
            <p:ph type="dt" sz="half" idx="10"/>
          </p:nvPr>
        </p:nvSpPr>
        <p:spPr/>
        <p:txBody>
          <a:bodyPr/>
          <a:lstStyle>
            <a:lvl1pPr>
              <a:defRPr>
                <a:solidFill>
                  <a:schemeClr val="tx1"/>
                </a:solidFill>
              </a:defRPr>
            </a:lvl1pPr>
          </a:lstStyle>
          <a:p>
            <a:fld id="{E87B711C-F9D6-42CE-B848-D107B7756573}" type="datetime1">
              <a:rPr lang="en-US" smtClean="0"/>
              <a:t>1/17/2026</a:t>
            </a:fld>
            <a:endParaRPr lang="en-US"/>
          </a:p>
        </p:txBody>
      </p:sp>
      <p:sp>
        <p:nvSpPr>
          <p:cNvPr id="4" name="Footer Placeholder 3"/>
          <p:cNvSpPr>
            <a:spLocks noGrp="1"/>
          </p:cNvSpPr>
          <p:nvPr>
            <p:ph type="ftr" sz="quarter" idx="11"/>
          </p:nvPr>
        </p:nvSpPr>
        <p:spPr/>
        <p:txBody>
          <a:bodyPr/>
          <a:lstStyle>
            <a:lvl1pPr>
              <a:defRPr>
                <a:solidFill>
                  <a:schemeClr val="tx1"/>
                </a:solidFill>
              </a:defRPr>
            </a:lvl1pPr>
          </a:lstStyle>
          <a:p>
            <a:r>
              <a:rPr lang="en-US"/>
              <a:t>Add a footer</a:t>
            </a: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087922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2"/>
          <p:cNvSpPr>
            <a:spLocks noGrp="1"/>
          </p:cNvSpPr>
          <p:nvPr>
            <p:ph type="dt" sz="half" idx="10"/>
          </p:nvPr>
        </p:nvSpPr>
        <p:spPr>
          <a:xfrm>
            <a:off x="5180250" y="6356351"/>
            <a:ext cx="1218883" cy="365125"/>
          </a:xfrm>
        </p:spPr>
        <p:txBody>
          <a:bodyPr/>
          <a:lstStyle/>
          <a:p>
            <a:fld id="{4C1EAC44-87EE-4E25-9BCB-D1B8F4FDD9D1}" type="datetime1">
              <a:rPr lang="en-US" smtClean="0"/>
              <a:t>1/17/2026</a:t>
            </a:fld>
            <a:endParaRPr lang="en-US"/>
          </a:p>
        </p:txBody>
      </p:sp>
      <p:sp>
        <p:nvSpPr>
          <p:cNvPr id="6" name="Footer Placeholder 3"/>
          <p:cNvSpPr>
            <a:spLocks noGrp="1"/>
          </p:cNvSpPr>
          <p:nvPr>
            <p:ph type="ftr" sz="quarter" idx="11"/>
          </p:nvPr>
        </p:nvSpPr>
        <p:spPr>
          <a:xfrm>
            <a:off x="6595933" y="6356351"/>
            <a:ext cx="3974065" cy="365125"/>
          </a:xfrm>
        </p:spPr>
        <p:txBody>
          <a:bodyPr/>
          <a:lstStyle/>
          <a:p>
            <a:r>
              <a:rPr lang="en-US"/>
              <a:t>Add a footer</a:t>
            </a:r>
          </a:p>
        </p:txBody>
      </p:sp>
      <p:sp>
        <p:nvSpPr>
          <p:cNvPr id="7" name="Slide Number Placeholder 4"/>
          <p:cNvSpPr>
            <a:spLocks noGrp="1"/>
          </p:cNvSpPr>
          <p:nvPr>
            <p:ph type="sldNum" sz="quarter" idx="12"/>
          </p:nvPr>
        </p:nvSpPr>
        <p:spPr>
          <a:xfrm>
            <a:off x="10766796" y="6356351"/>
            <a:ext cx="609441" cy="365125"/>
          </a:xfrm>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2973289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1074240" y="381000"/>
            <a:ext cx="3293422" cy="1371600"/>
          </a:xfrm>
        </p:spPr>
        <p:txBody>
          <a:bodyPr anchor="b">
            <a:normAutofit/>
          </a:bodyPr>
          <a:lstStyle>
            <a:lvl1pPr algn="l">
              <a:defRPr sz="2800" b="0" cap="all" baseline="0">
                <a:solidFill>
                  <a:schemeClr val="tx2">
                    <a:lumMod val="75000"/>
                  </a:schemeClr>
                </a:solidFill>
              </a:defRPr>
            </a:lvl1pPr>
          </a:lstStyle>
          <a:p>
            <a:r>
              <a:rPr lang="en-US"/>
              <a:t>Click to edit Master title style</a:t>
            </a:r>
            <a:endParaRPr/>
          </a:p>
        </p:txBody>
      </p:sp>
      <p:sp>
        <p:nvSpPr>
          <p:cNvPr id="3" name="Content Placeholder 2"/>
          <p:cNvSpPr>
            <a:spLocks noGrp="1"/>
          </p:cNvSpPr>
          <p:nvPr>
            <p:ph idx="1" hasCustomPrompt="1"/>
          </p:nvPr>
        </p:nvSpPr>
        <p:spPr>
          <a:xfrm>
            <a:off x="5180251" y="482600"/>
            <a:ext cx="6195986" cy="5689600"/>
          </a:xfrm>
        </p:spPr>
        <p:txBody>
          <a:bodyPr>
            <a:normAutofit/>
          </a:bodyPr>
          <a:lstStyle>
            <a:lvl1pPr>
              <a:defRPr sz="2800">
                <a:solidFill>
                  <a:schemeClr val="tx1"/>
                </a:solidFill>
              </a:defRPr>
            </a:lvl1pPr>
            <a:lvl2pPr>
              <a:defRPr sz="2400">
                <a:solidFill>
                  <a:schemeClr val="tx1"/>
                </a:solidFill>
              </a:defRPr>
            </a:lvl2pPr>
            <a:lvl3pPr>
              <a:defRPr sz="2000">
                <a:solidFill>
                  <a:schemeClr val="tx1"/>
                </a:solidFill>
              </a:defRPr>
            </a:lvl3pPr>
            <a:lvl4pPr>
              <a:defRPr sz="1800">
                <a:solidFill>
                  <a:schemeClr val="tx1"/>
                </a:solidFill>
              </a:defRPr>
            </a:lvl4pPr>
            <a:lvl5pPr>
              <a:defRPr sz="1800">
                <a:solidFill>
                  <a:schemeClr val="tx1"/>
                </a:solidFill>
              </a:defRPr>
            </a:lvl5pPr>
            <a:lvl6pPr>
              <a:defRPr sz="1800"/>
            </a:lvl6pPr>
            <a:lvl7pPr>
              <a:defRPr sz="180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bwMode="white">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1"/>
                </a:solidFill>
              </a:defRPr>
            </a:lvl1pPr>
          </a:lstStyle>
          <a:p>
            <a:fld id="{E68E44B9-3FFE-4574-9630-3E5A6F960186}" type="datetime1">
              <a:rPr lang="en-US" smtClean="0"/>
              <a:t>1/17/2026</a:t>
            </a:fld>
            <a:endParaRPr lang="en-US"/>
          </a:p>
        </p:txBody>
      </p:sp>
      <p:sp>
        <p:nvSpPr>
          <p:cNvPr id="6" name="Footer Placeholder 5"/>
          <p:cNvSpPr>
            <a:spLocks noGrp="1"/>
          </p:cNvSpPr>
          <p:nvPr>
            <p:ph type="ftr" sz="quarter" idx="11"/>
          </p:nvPr>
        </p:nvSpPr>
        <p:spPr/>
        <p:txBody>
          <a:bodyPr/>
          <a:lstStyle>
            <a:lvl1pPr>
              <a:defRPr>
                <a:solidFill>
                  <a:schemeClr val="tx1"/>
                </a:solidFill>
              </a:defRPr>
            </a:lvl1pPr>
          </a:lstStyle>
          <a:p>
            <a:r>
              <a:rPr lang="en-US"/>
              <a:t>Add a footer</a:t>
            </a:r>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7DC1BBB0-96F0-4077-A278-0F3FB5C104D3}" type="slidenum">
              <a:rPr lang="en-US" smtClean="0"/>
              <a:pPr/>
              <a:t>‹#›</a:t>
            </a:fld>
            <a:endParaRPr lang="en-US"/>
          </a:p>
        </p:txBody>
      </p:sp>
      <p:sp>
        <p:nvSpPr>
          <p:cNvPr id="9" name="Rectangle 8"/>
          <p:cNvSpPr/>
          <p:nvPr/>
        </p:nvSpPr>
        <p:spPr>
          <a:xfrm>
            <a:off x="11884104" y="0"/>
            <a:ext cx="30472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3476394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4240" y="381000"/>
            <a:ext cx="3293422" cy="1371600"/>
          </a:xfrm>
        </p:spPr>
        <p:txBody>
          <a:bodyPr anchor="b">
            <a:normAutofit/>
          </a:bodyPr>
          <a:lstStyle>
            <a:lvl1pPr algn="l">
              <a:defRPr sz="2800" b="0" cap="all" baseline="0">
                <a:solidFill>
                  <a:schemeClr val="tx2">
                    <a:lumMod val="75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bwMode="auto">
          <a:xfrm>
            <a:off x="5180251" y="482600"/>
            <a:ext cx="6195986" cy="5689600"/>
          </a:xfrm>
          <a:ln w="19050">
            <a:solidFill>
              <a:schemeClr val="bg1"/>
            </a:solidFill>
          </a:ln>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66F492-7803-4716-B969-A5873965FF8A}" type="datetime1">
              <a:rPr lang="en-US" smtClean="0"/>
              <a:t>1/17/2026</a:t>
            </a:fld>
            <a:endParaRPr lang="en-US"/>
          </a:p>
        </p:txBody>
      </p:sp>
      <p:sp>
        <p:nvSpPr>
          <p:cNvPr id="6" name="Footer Placeholder 5"/>
          <p:cNvSpPr>
            <a:spLocks noGrp="1"/>
          </p:cNvSpPr>
          <p:nvPr>
            <p:ph type="ftr" sz="quarter" idx="11"/>
          </p:nvPr>
        </p:nvSpPr>
        <p:spPr/>
        <p:txBody>
          <a:bodyPr/>
          <a:lstStyle/>
          <a:p>
            <a:r>
              <a:rPr lang="en-US"/>
              <a:t>Add a footer</a:t>
            </a:r>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
        <p:nvSpPr>
          <p:cNvPr id="9" name="Rectangle 8"/>
          <p:cNvSpPr/>
          <p:nvPr/>
        </p:nvSpPr>
        <p:spPr>
          <a:xfrm>
            <a:off x="11884104" y="0"/>
            <a:ext cx="304721"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2256456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2DF41C5-B5F2-469F-BA25-292CFCDAF6E0}" type="datetime1">
              <a:rPr lang="en-US" smtClean="0"/>
              <a:t>1/17/2026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23496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9612" y="685800"/>
            <a:ext cx="1787526" cy="5486400"/>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598613" y="685800"/>
            <a:ext cx="7848599" cy="5486400"/>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69D85FE-5443-4629-8A1C-6F6EA57CBD60}" type="datetime1">
              <a:rPr lang="en-US" smtClean="0"/>
              <a:t>1/17/2026</a:t>
            </a:fld>
            <a:endParaRPr lang="en-US"/>
          </a:p>
        </p:txBody>
      </p:sp>
      <p:sp>
        <p:nvSpPr>
          <p:cNvPr id="5" name="Footer Placeholder 4"/>
          <p:cNvSpPr>
            <a:spLocks noGrp="1"/>
          </p:cNvSpPr>
          <p:nvPr>
            <p:ph type="ftr" sz="quarter" idx="11"/>
          </p:nvPr>
        </p:nvSpPr>
        <p:spPr/>
        <p:txBody>
          <a:bodyPr/>
          <a:lstStyle/>
          <a:p>
            <a:r>
              <a:rPr lang="en-US"/>
              <a:t>Add a footer</a:t>
            </a:r>
          </a:p>
        </p:txBody>
      </p:sp>
      <p:sp>
        <p:nvSpPr>
          <p:cNvPr id="6" name="Slide Number Placeholder 5"/>
          <p:cNvSpPr>
            <a:spLocks noGrp="1"/>
          </p:cNvSpPr>
          <p:nvPr>
            <p:ph type="sldNum" sz="quarter" idx="12"/>
          </p:nvPr>
        </p:nvSpPr>
        <p:spPr/>
        <p:txBody>
          <a:bodyPr/>
          <a:lstStyle/>
          <a:p>
            <a:fld id="{7DC1BBB0-96F0-4077-A278-0F3FB5C104D3}" type="slidenum">
              <a:rPr lang="en-US" smtClean="0"/>
              <a:t>‹#›</a:t>
            </a:fld>
            <a:endParaRPr lang="en-US"/>
          </a:p>
        </p:txBody>
      </p:sp>
      <p:sp>
        <p:nvSpPr>
          <p:cNvPr id="8" name="Rectangle 7"/>
          <p:cNvSpPr/>
          <p:nvPr userDrawn="1"/>
        </p:nvSpPr>
        <p:spPr>
          <a:xfrm>
            <a:off x="11885691" y="0"/>
            <a:ext cx="304721"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Tree>
    <p:extLst>
      <p:ext uri="{BB962C8B-B14F-4D97-AF65-F5344CB8AC3E}">
        <p14:creationId xmlns:p14="http://schemas.microsoft.com/office/powerpoint/2010/main" val="284863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chemeClr val="tx2">
                <a:lumMod val="20000"/>
                <a:lumOff val="80000"/>
              </a:schemeClr>
            </a:gs>
            <a:gs pos="90000">
              <a:schemeClr val="tx2">
                <a:lumMod val="60000"/>
                <a:lumOff val="4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3413" y="177800"/>
            <a:ext cx="9472824" cy="1239837"/>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903413" y="1600200"/>
            <a:ext cx="9472824"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100" cap="all" baseline="0">
                <a:solidFill>
                  <a:schemeClr val="tx1"/>
                </a:solidFill>
              </a:defRPr>
            </a:lvl1pPr>
          </a:lstStyle>
          <a:p>
            <a:fld id="{FD004168-AADC-4457-9784-543656FEE4FC}" type="datetime1">
              <a:rPr lang="en-US" smtClean="0"/>
              <a:pPr/>
              <a:t>1/17/2026</a:t>
            </a:fld>
            <a:endParaRPr lang="en-US"/>
          </a:p>
        </p:txBody>
      </p:sp>
      <p:sp>
        <p:nvSpPr>
          <p:cNvPr id="5" name="Footer Placeholder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100" cap="all" baseline="0">
                <a:solidFill>
                  <a:schemeClr val="tx1"/>
                </a:solidFill>
              </a:defRPr>
            </a:lvl1pPr>
          </a:lstStyle>
          <a:p>
            <a:r>
              <a:rPr lang="en-US"/>
              <a:t>Add a footer</a:t>
            </a:r>
          </a:p>
        </p:txBody>
      </p:sp>
      <p:sp>
        <p:nvSpPr>
          <p:cNvPr id="6" name="Slide Number Placeholder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100" cap="all" baseline="0">
                <a:solidFill>
                  <a:schemeClr val="tx1"/>
                </a:solidFill>
              </a:defRPr>
            </a:lvl1pPr>
          </a:lstStyle>
          <a:p>
            <a:fld id="{7DC1BBB0-96F0-4077-A278-0F3FB5C104D3}" type="slidenum">
              <a:rPr lang="en-US" smtClean="0"/>
              <a:pPr/>
              <a:t>‹#›</a:t>
            </a:fld>
            <a:endParaRPr lang="en-US"/>
          </a:p>
        </p:txBody>
      </p:sp>
      <p:sp>
        <p:nvSpPr>
          <p:cNvPr id="9" name="Rectangle 8"/>
          <p:cNvSpPr/>
          <p:nvPr/>
        </p:nvSpPr>
        <p:spPr>
          <a:xfrm>
            <a:off x="11885691" y="0"/>
            <a:ext cx="304721" cy="6858000"/>
          </a:xfrm>
          <a:prstGeom prst="rect">
            <a:avLst/>
          </a:prstGeom>
          <a:solidFill>
            <a:schemeClr val="tx2">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pic>
        <p:nvPicPr>
          <p:cNvPr id="46" name="Picture 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ltGray">
          <a:xfrm>
            <a:off x="0" y="0"/>
            <a:ext cx="1803400" cy="6858000"/>
          </a:xfrm>
          <a:prstGeom prst="rect">
            <a:avLst/>
          </a:prstGeom>
          <a:noFill/>
          <a:ln>
            <a:noFill/>
          </a:ln>
        </p:spPr>
      </p:pic>
    </p:spTree>
    <p:extLst>
      <p:ext uri="{BB962C8B-B14F-4D97-AF65-F5344CB8AC3E}">
        <p14:creationId xmlns:p14="http://schemas.microsoft.com/office/powerpoint/2010/main" val="41415188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600" kern="1200">
          <a:solidFill>
            <a:schemeClr val="tx2">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39" userDrawn="1">
          <p15:clr>
            <a:srgbClr val="F26B43"/>
          </p15:clr>
        </p15:guide>
        <p15:guide id="2" pos="1199" userDrawn="1">
          <p15:clr>
            <a:srgbClr val="F26B43"/>
          </p15:clr>
        </p15:guide>
        <p15:guide id="3" pos="719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34502" y="599302"/>
            <a:ext cx="8329031" cy="2221730"/>
          </a:xfrm>
        </p:spPr>
        <p:txBody>
          <a:bodyPr/>
          <a:lstStyle/>
          <a:p>
            <a:pPr algn="ctr"/>
            <a:r>
              <a:rPr lang="en-US" sz="4400" b="1">
                <a:latin typeface="Times New Roman"/>
                <a:ea typeface="Calibri"/>
                <a:cs typeface="Times New Roman"/>
              </a:rPr>
              <a:t>Tennessee opioid prescriptions and overdose deaths</a:t>
            </a:r>
            <a:endParaRPr lang="en-US"/>
          </a:p>
        </p:txBody>
      </p:sp>
      <p:sp>
        <p:nvSpPr>
          <p:cNvPr id="3" name="Subtitle 2"/>
          <p:cNvSpPr>
            <a:spLocks noGrp="1"/>
          </p:cNvSpPr>
          <p:nvPr>
            <p:ph type="subTitle" idx="1"/>
          </p:nvPr>
        </p:nvSpPr>
        <p:spPr>
          <a:xfrm>
            <a:off x="7618411" y="3733801"/>
            <a:ext cx="2326699" cy="1727200"/>
          </a:xfrm>
        </p:spPr>
        <p:txBody>
          <a:bodyPr>
            <a:normAutofit fontScale="92500" lnSpcReduction="20000"/>
          </a:bodyPr>
          <a:lstStyle/>
          <a:p>
            <a:r>
              <a:rPr lang="en-US"/>
              <a:t>Presented by:</a:t>
            </a:r>
          </a:p>
          <a:p>
            <a:endParaRPr lang="en-US"/>
          </a:p>
          <a:p>
            <a:pPr marL="457200" indent="-457200">
              <a:buFont typeface="Arial" panose="020B0604020202020204" pitchFamily="34" charset="0"/>
              <a:buChar char="•"/>
            </a:pPr>
            <a:r>
              <a:rPr lang="en-US"/>
              <a:t>Brenda</a:t>
            </a:r>
          </a:p>
          <a:p>
            <a:pPr marL="457200" indent="-457200">
              <a:buFont typeface="Arial" panose="020B0604020202020204" pitchFamily="34" charset="0"/>
              <a:buChar char="•"/>
            </a:pPr>
            <a:r>
              <a:rPr lang="en-US"/>
              <a:t>Janvi</a:t>
            </a:r>
          </a:p>
          <a:p>
            <a:pPr marL="457200" indent="-457200">
              <a:buFont typeface="Arial" panose="020B0604020202020204" pitchFamily="34" charset="0"/>
              <a:buChar char="•"/>
            </a:pPr>
            <a:r>
              <a:rPr lang="en-US"/>
              <a:t>Richard </a:t>
            </a:r>
          </a:p>
        </p:txBody>
      </p:sp>
    </p:spTree>
    <p:extLst>
      <p:ext uri="{BB962C8B-B14F-4D97-AF65-F5344CB8AC3E}">
        <p14:creationId xmlns:p14="http://schemas.microsoft.com/office/powerpoint/2010/main" val="66759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a:t>Top 5 Tennessee counties with high number of opioid prescriptions</a:t>
            </a:r>
          </a:p>
        </p:txBody>
      </p:sp>
      <p:sp>
        <p:nvSpPr>
          <p:cNvPr id="14" name="Content Placeholder 13"/>
          <p:cNvSpPr>
            <a:spLocks noGrp="1"/>
          </p:cNvSpPr>
          <p:nvPr>
            <p:ph idx="1"/>
          </p:nvPr>
        </p:nvSpPr>
        <p:spPr>
          <a:xfrm>
            <a:off x="1903413" y="1713470"/>
            <a:ext cx="9708940" cy="1447800"/>
          </a:xfrm>
        </p:spPr>
        <p:txBody>
          <a:bodyPr vert="horz" lIns="91440" tIns="45720" rIns="91440" bIns="45720" rtlCol="0" anchor="t">
            <a:normAutofit fontScale="92500" lnSpcReduction="20000"/>
          </a:bodyPr>
          <a:lstStyle/>
          <a:p>
            <a:pPr marL="246380" lvl="0" indent="-246380"/>
            <a:r>
              <a:rPr lang="en-US"/>
              <a:t>Davidson county has the highest number of opioid prescription which is 4750, followed by Knox and Shelby counties with more than 3500. </a:t>
            </a:r>
          </a:p>
          <a:p>
            <a:pPr marL="246380" lvl="0" indent="-246380"/>
            <a:r>
              <a:rPr lang="en-US"/>
              <a:t>The lowest prescription is in Lake County with total count of 8.</a:t>
            </a:r>
            <a:endParaRPr lang="en-US">
              <a:ea typeface="Calibri"/>
              <a:cs typeface="Calibri"/>
            </a:endParaRPr>
          </a:p>
          <a:p>
            <a:pPr marL="246380" lvl="0" indent="-246380"/>
            <a:endParaRPr lang="en-US">
              <a:ea typeface="Calibri"/>
              <a:cs typeface="Calibri"/>
            </a:endParaRPr>
          </a:p>
        </p:txBody>
      </p:sp>
      <p:pic>
        <p:nvPicPr>
          <p:cNvPr id="2" name="Picture 1" descr="A screenshot of a computer&#10;&#10;AI-generated content may be incorrect.">
            <a:extLst>
              <a:ext uri="{FF2B5EF4-FFF2-40B4-BE49-F238E27FC236}">
                <a16:creationId xmlns:a16="http://schemas.microsoft.com/office/drawing/2014/main" id="{B0EB49BA-E390-490E-C925-9149502560DF}"/>
              </a:ext>
            </a:extLst>
          </p:cNvPr>
          <p:cNvPicPr>
            <a:picLocks noChangeAspect="1"/>
          </p:cNvPicPr>
          <p:nvPr/>
        </p:nvPicPr>
        <p:blipFill>
          <a:blip r:embed="rId3"/>
          <a:stretch>
            <a:fillRect/>
          </a:stretch>
        </p:blipFill>
        <p:spPr>
          <a:xfrm>
            <a:off x="1898772" y="3178261"/>
            <a:ext cx="4744679" cy="3271452"/>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C83D6225-5645-1E32-8B0E-3016B89A1DE6}"/>
              </a:ext>
            </a:extLst>
          </p:cNvPr>
          <p:cNvPicPr>
            <a:picLocks noChangeAspect="1"/>
          </p:cNvPicPr>
          <p:nvPr/>
        </p:nvPicPr>
        <p:blipFill>
          <a:blip r:embed="rId4"/>
          <a:stretch>
            <a:fillRect/>
          </a:stretch>
        </p:blipFill>
        <p:spPr>
          <a:xfrm>
            <a:off x="7086107" y="3200657"/>
            <a:ext cx="4755754" cy="3257550"/>
          </a:xfrm>
          <a:prstGeom prst="rect">
            <a:avLst/>
          </a:prstGeom>
        </p:spPr>
      </p:pic>
    </p:spTree>
    <p:extLst>
      <p:ext uri="{BB962C8B-B14F-4D97-AF65-F5344CB8AC3E}">
        <p14:creationId xmlns:p14="http://schemas.microsoft.com/office/powerpoint/2010/main" val="2970739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title="Title and Content Layout with Chart"/>
          <p:cNvSpPr>
            <a:spLocks noGrp="1"/>
          </p:cNvSpPr>
          <p:nvPr>
            <p:ph type="title"/>
          </p:nvPr>
        </p:nvSpPr>
        <p:spPr/>
        <p:txBody>
          <a:bodyPr/>
          <a:lstStyle/>
          <a:p>
            <a:r>
              <a:rPr lang="en-US"/>
              <a:t>Top opioid prescribers for the state of Tennessee</a:t>
            </a:r>
          </a:p>
        </p:txBody>
      </p:sp>
      <p:graphicFrame>
        <p:nvGraphicFramePr>
          <p:cNvPr id="6" name="Content Placeholder 5" descr="Clustered column chart representing&#10;3 series combination chart for 4 categories"/>
          <p:cNvGraphicFramePr>
            <a:graphicFrameLocks noGrp="1"/>
          </p:cNvGraphicFramePr>
          <p:nvPr>
            <p:ph idx="1"/>
            <p:extLst>
              <p:ext uri="{D42A27DB-BD31-4B8C-83A1-F6EECF244321}">
                <p14:modId xmlns:p14="http://schemas.microsoft.com/office/powerpoint/2010/main" val="1459132521"/>
              </p:ext>
            </p:extLst>
          </p:nvPr>
        </p:nvGraphicFramePr>
        <p:xfrm>
          <a:off x="1903413" y="1600200"/>
          <a:ext cx="9472612" cy="4572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9525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Trend in overdose deaths due to opioids </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1439477237"/>
              </p:ext>
            </p:extLst>
          </p:nvPr>
        </p:nvGraphicFramePr>
        <p:xfrm>
          <a:off x="2284412" y="2060972"/>
          <a:ext cx="4026588" cy="2722880"/>
        </p:xfrm>
        <a:graphic>
          <a:graphicData uri="http://schemas.openxmlformats.org/drawingml/2006/table">
            <a:tbl>
              <a:tblPr firstRow="1" bandRow="1">
                <a:tableStyleId>{FABFCF23-3B69-468F-B69F-88F6DE6A72F2}</a:tableStyleId>
              </a:tblPr>
              <a:tblGrid>
                <a:gridCol w="2013294">
                  <a:extLst>
                    <a:ext uri="{9D8B030D-6E8A-4147-A177-3AD203B41FA5}">
                      <a16:colId xmlns:a16="http://schemas.microsoft.com/office/drawing/2014/main" val="20000"/>
                    </a:ext>
                  </a:extLst>
                </a:gridCol>
                <a:gridCol w="2013294">
                  <a:extLst>
                    <a:ext uri="{9D8B030D-6E8A-4147-A177-3AD203B41FA5}">
                      <a16:colId xmlns:a16="http://schemas.microsoft.com/office/drawing/2014/main" val="20001"/>
                    </a:ext>
                  </a:extLst>
                </a:gridCol>
              </a:tblGrid>
              <a:tr h="520700">
                <a:tc>
                  <a:txBody>
                    <a:bodyPr/>
                    <a:lstStyle/>
                    <a:p>
                      <a:r>
                        <a:rPr lang="en-US"/>
                        <a:t>Year</a:t>
                      </a:r>
                    </a:p>
                  </a:txBody>
                  <a:tcPr marL="87578" marR="87578" anchor="ctr"/>
                </a:tc>
                <a:tc>
                  <a:txBody>
                    <a:bodyPr/>
                    <a:lstStyle/>
                    <a:p>
                      <a:pPr algn="ctr"/>
                      <a:r>
                        <a:rPr lang="en-US"/>
                        <a:t>Total Overdose Deaths</a:t>
                      </a:r>
                    </a:p>
                  </a:txBody>
                  <a:tcPr marL="87578" marR="87578" anchor="ctr"/>
                </a:tc>
                <a:extLst>
                  <a:ext uri="{0D108BD9-81ED-4DB2-BD59-A6C34878D82A}">
                    <a16:rowId xmlns:a16="http://schemas.microsoft.com/office/drawing/2014/main" val="10000"/>
                  </a:ext>
                </a:extLst>
              </a:tr>
              <a:tr h="520700">
                <a:tc>
                  <a:txBody>
                    <a:bodyPr/>
                    <a:lstStyle/>
                    <a:p>
                      <a:r>
                        <a:rPr lang="en-US"/>
                        <a:t>2015</a:t>
                      </a:r>
                    </a:p>
                  </a:txBody>
                  <a:tcPr marL="87578" marR="87578" anchor="ctr"/>
                </a:tc>
                <a:tc>
                  <a:txBody>
                    <a:bodyPr/>
                    <a:lstStyle/>
                    <a:p>
                      <a:pPr algn="ctr"/>
                      <a:r>
                        <a:rPr lang="en-US"/>
                        <a:t>1033</a:t>
                      </a:r>
                    </a:p>
                  </a:txBody>
                  <a:tcPr marL="87578" marR="87578" anchor="ctr"/>
                </a:tc>
                <a:extLst>
                  <a:ext uri="{0D108BD9-81ED-4DB2-BD59-A6C34878D82A}">
                    <a16:rowId xmlns:a16="http://schemas.microsoft.com/office/drawing/2014/main" val="10001"/>
                  </a:ext>
                </a:extLst>
              </a:tr>
              <a:tr h="520700">
                <a:tc>
                  <a:txBody>
                    <a:bodyPr/>
                    <a:lstStyle/>
                    <a:p>
                      <a:r>
                        <a:rPr lang="en-US"/>
                        <a:t>2016</a:t>
                      </a:r>
                    </a:p>
                  </a:txBody>
                  <a:tcPr marL="87578" marR="87578" anchor="ctr"/>
                </a:tc>
                <a:tc>
                  <a:txBody>
                    <a:bodyPr/>
                    <a:lstStyle/>
                    <a:p>
                      <a:pPr algn="ctr"/>
                      <a:r>
                        <a:rPr lang="en-US"/>
                        <a:t>1186</a:t>
                      </a:r>
                    </a:p>
                  </a:txBody>
                  <a:tcPr marL="87578" marR="87578" anchor="ctr"/>
                </a:tc>
                <a:extLst>
                  <a:ext uri="{0D108BD9-81ED-4DB2-BD59-A6C34878D82A}">
                    <a16:rowId xmlns:a16="http://schemas.microsoft.com/office/drawing/2014/main" val="10002"/>
                  </a:ext>
                </a:extLst>
              </a:tr>
              <a:tr h="520700">
                <a:tc>
                  <a:txBody>
                    <a:bodyPr/>
                    <a:lstStyle/>
                    <a:p>
                      <a:r>
                        <a:rPr lang="en-US"/>
                        <a:t>2017</a:t>
                      </a:r>
                    </a:p>
                  </a:txBody>
                  <a:tcPr marL="87578" marR="87578" anchor="ctr"/>
                </a:tc>
                <a:tc>
                  <a:txBody>
                    <a:bodyPr/>
                    <a:lstStyle/>
                    <a:p>
                      <a:pPr algn="ctr"/>
                      <a:r>
                        <a:rPr lang="en-US"/>
                        <a:t>1267</a:t>
                      </a:r>
                    </a:p>
                  </a:txBody>
                  <a:tcPr marL="87578" marR="87578" anchor="ctr"/>
                </a:tc>
                <a:extLst>
                  <a:ext uri="{0D108BD9-81ED-4DB2-BD59-A6C34878D82A}">
                    <a16:rowId xmlns:a16="http://schemas.microsoft.com/office/drawing/2014/main" val="10003"/>
                  </a:ext>
                </a:extLst>
              </a:tr>
              <a:tr h="520700">
                <a:tc>
                  <a:txBody>
                    <a:bodyPr/>
                    <a:lstStyle/>
                    <a:p>
                      <a:r>
                        <a:rPr lang="en-US"/>
                        <a:t>2018</a:t>
                      </a:r>
                    </a:p>
                  </a:txBody>
                  <a:tcPr marL="87578" marR="87578" anchor="ctr"/>
                </a:tc>
                <a:tc>
                  <a:txBody>
                    <a:bodyPr/>
                    <a:lstStyle/>
                    <a:p>
                      <a:pPr algn="ctr"/>
                      <a:r>
                        <a:rPr lang="en-US"/>
                        <a:t>1304</a:t>
                      </a:r>
                    </a:p>
                  </a:txBody>
                  <a:tcPr marL="87578" marR="87578" anchor="ctr"/>
                </a:tc>
                <a:extLst>
                  <a:ext uri="{0D108BD9-81ED-4DB2-BD59-A6C34878D82A}">
                    <a16:rowId xmlns:a16="http://schemas.microsoft.com/office/drawing/2014/main" val="1584405989"/>
                  </a:ext>
                </a:extLst>
              </a:tr>
            </a:tbl>
          </a:graphicData>
        </a:graphic>
      </p:graphicFrame>
      <p:sp>
        <p:nvSpPr>
          <p:cNvPr id="11" name="Content Placeholder 10"/>
          <p:cNvSpPr>
            <a:spLocks noGrp="1"/>
          </p:cNvSpPr>
          <p:nvPr>
            <p:ph sz="half" idx="2"/>
          </p:nvPr>
        </p:nvSpPr>
        <p:spPr>
          <a:xfrm>
            <a:off x="6802888" y="2060972"/>
            <a:ext cx="4572000" cy="2667000"/>
          </a:xfrm>
        </p:spPr>
        <p:txBody>
          <a:bodyPr/>
          <a:lstStyle/>
          <a:p>
            <a:r>
              <a:rPr lang="en-US"/>
              <a:t>Deaths in Tennessee due to overdose has increased over the years. </a:t>
            </a:r>
          </a:p>
          <a:p>
            <a:r>
              <a:rPr lang="en-US"/>
              <a:t>About 300 more deaths were recorded in 2018 than 2015.</a:t>
            </a:r>
          </a:p>
        </p:txBody>
      </p:sp>
    </p:spTree>
    <p:extLst>
      <p:ext uri="{BB962C8B-B14F-4D97-AF65-F5344CB8AC3E}">
        <p14:creationId xmlns:p14="http://schemas.microsoft.com/office/powerpoint/2010/main" val="1843700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Opioid prescriptions and overdose deaths by county</a:t>
            </a:r>
          </a:p>
        </p:txBody>
      </p:sp>
      <p:sp>
        <p:nvSpPr>
          <p:cNvPr id="10" name="Content Placeholder 9"/>
          <p:cNvSpPr>
            <a:spLocks noGrp="1"/>
          </p:cNvSpPr>
          <p:nvPr>
            <p:ph sz="half" idx="1"/>
          </p:nvPr>
        </p:nvSpPr>
        <p:spPr>
          <a:xfrm>
            <a:off x="1935496" y="1600200"/>
            <a:ext cx="8959516" cy="1676400"/>
          </a:xfrm>
        </p:spPr>
        <p:txBody>
          <a:bodyPr>
            <a:normAutofit fontScale="70000" lnSpcReduction="20000"/>
          </a:bodyPr>
          <a:lstStyle/>
          <a:p>
            <a:r>
              <a:rPr lang="en-US"/>
              <a:t>The count of overdose deaths is definitely high where the prescription count is high like KNOX county with 3776 prescription and 683 deaths; however, </a:t>
            </a:r>
          </a:p>
          <a:p>
            <a:r>
              <a:rPr lang="en-US"/>
              <a:t>If we look at the percentage of deaths as compared to prescription count, then DECATUR county has the highest percentage of overdose deaths. </a:t>
            </a:r>
          </a:p>
          <a:p>
            <a:r>
              <a:rPr lang="en-US"/>
              <a:t>So, there is no correlation with overdose deaths and high prescription count.</a:t>
            </a:r>
          </a:p>
        </p:txBody>
      </p:sp>
      <p:pic>
        <p:nvPicPr>
          <p:cNvPr id="4" name="Picture 3">
            <a:extLst>
              <a:ext uri="{FF2B5EF4-FFF2-40B4-BE49-F238E27FC236}">
                <a16:creationId xmlns:a16="http://schemas.microsoft.com/office/drawing/2014/main" id="{87CF5E17-36DB-0E14-6097-DC38F2E55C6E}"/>
              </a:ext>
            </a:extLst>
          </p:cNvPr>
          <p:cNvPicPr>
            <a:picLocks noChangeAspect="1"/>
          </p:cNvPicPr>
          <p:nvPr/>
        </p:nvPicPr>
        <p:blipFill>
          <a:blip r:embed="rId3"/>
          <a:stretch>
            <a:fillRect/>
          </a:stretch>
        </p:blipFill>
        <p:spPr>
          <a:xfrm>
            <a:off x="2055812" y="3420903"/>
            <a:ext cx="7772400" cy="2810178"/>
          </a:xfrm>
          <a:prstGeom prst="rect">
            <a:avLst/>
          </a:prstGeom>
        </p:spPr>
      </p:pic>
    </p:spTree>
    <p:extLst>
      <p:ext uri="{BB962C8B-B14F-4D97-AF65-F5344CB8AC3E}">
        <p14:creationId xmlns:p14="http://schemas.microsoft.com/office/powerpoint/2010/main" val="840664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F727-244A-5919-9F13-D22DE8C8E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650EC-0D97-0D35-7E47-EA98486A0649}"/>
              </a:ext>
            </a:extLst>
          </p:cNvPr>
          <p:cNvSpPr>
            <a:spLocks noGrp="1"/>
          </p:cNvSpPr>
          <p:nvPr>
            <p:ph type="title"/>
          </p:nvPr>
        </p:nvSpPr>
        <p:spPr>
          <a:xfrm>
            <a:off x="1924853" y="177800"/>
            <a:ext cx="9451384" cy="1004094"/>
          </a:xfrm>
        </p:spPr>
        <p:txBody>
          <a:bodyPr>
            <a:normAutofit fontScale="90000"/>
          </a:bodyPr>
          <a:lstStyle/>
          <a:p>
            <a:r>
              <a:rPr lang="en-US"/>
              <a:t>Association between a particular type of opioid and number of overdose deaths</a:t>
            </a:r>
          </a:p>
        </p:txBody>
      </p:sp>
      <p:sp>
        <p:nvSpPr>
          <p:cNvPr id="10" name="Content Placeholder 9">
            <a:extLst>
              <a:ext uri="{FF2B5EF4-FFF2-40B4-BE49-F238E27FC236}">
                <a16:creationId xmlns:a16="http://schemas.microsoft.com/office/drawing/2014/main" id="{1CD3072F-05BE-18B0-DB2B-DE97354B6F10}"/>
              </a:ext>
            </a:extLst>
          </p:cNvPr>
          <p:cNvSpPr>
            <a:spLocks noGrp="1"/>
          </p:cNvSpPr>
          <p:nvPr>
            <p:ph sz="half" idx="1"/>
          </p:nvPr>
        </p:nvSpPr>
        <p:spPr>
          <a:xfrm>
            <a:off x="1924776" y="1184801"/>
            <a:ext cx="9844111" cy="1589291"/>
          </a:xfrm>
        </p:spPr>
        <p:txBody>
          <a:bodyPr vert="horz" lIns="91440" tIns="45720" rIns="91440" bIns="45720" rtlCol="0" anchor="t">
            <a:normAutofit fontScale="55000" lnSpcReduction="20000"/>
          </a:bodyPr>
          <a:lstStyle/>
          <a:p>
            <a:pPr marL="246380" indent="-246380"/>
            <a:r>
              <a:rPr lang="en-US">
                <a:ea typeface="Calibri"/>
                <a:cs typeface="Calibri"/>
              </a:rPr>
              <a:t>Since, there is no Unique key to directly join the tables, this is the closest we got. Multiple counties are appearing for the same zip and multiple zip for same county. So we cannot derive the accurate results from the available data.</a:t>
            </a:r>
            <a:endParaRPr lang="en-US"/>
          </a:p>
          <a:p>
            <a:pPr marL="246380" indent="-246380"/>
            <a:r>
              <a:rPr lang="en-US">
                <a:ea typeface="Calibri"/>
                <a:cs typeface="Calibri"/>
              </a:rPr>
              <a:t>If we can have the drug name in </a:t>
            </a:r>
            <a:r>
              <a:rPr lang="en-US" err="1">
                <a:ea typeface="Calibri"/>
                <a:cs typeface="Calibri"/>
              </a:rPr>
              <a:t>overdose_deaths</a:t>
            </a:r>
            <a:r>
              <a:rPr lang="en-US">
                <a:ea typeface="Calibri"/>
                <a:cs typeface="Calibri"/>
              </a:rPr>
              <a:t>/ </a:t>
            </a:r>
            <a:r>
              <a:rPr lang="en-US" err="1">
                <a:ea typeface="Calibri"/>
                <a:cs typeface="Calibri"/>
              </a:rPr>
              <a:t>zip_fips</a:t>
            </a:r>
            <a:r>
              <a:rPr lang="en-US">
                <a:ea typeface="Calibri"/>
                <a:cs typeface="Calibri"/>
              </a:rPr>
              <a:t>/ </a:t>
            </a:r>
            <a:r>
              <a:rPr lang="en-US" err="1">
                <a:ea typeface="Calibri"/>
                <a:cs typeface="Calibri"/>
              </a:rPr>
              <a:t>fipscounty</a:t>
            </a:r>
            <a:r>
              <a:rPr lang="en-US">
                <a:ea typeface="Calibri"/>
                <a:cs typeface="Calibri"/>
              </a:rPr>
              <a:t> table it would be easier to answer.</a:t>
            </a:r>
            <a:endParaRPr lang="en-US"/>
          </a:p>
          <a:p>
            <a:pPr marL="246380" indent="-246380"/>
            <a:r>
              <a:rPr lang="en-US"/>
              <a:t>All type and kind of opioids have high number of overdose deaths.</a:t>
            </a:r>
            <a:endParaRPr lang="en-US">
              <a:ea typeface="Calibri"/>
              <a:cs typeface="Calibri"/>
            </a:endParaRPr>
          </a:p>
          <a:p>
            <a:pPr marL="246380" indent="-246380"/>
            <a:r>
              <a:rPr lang="en-US"/>
              <a:t>They all are harmful, so need less prescription and less usage to save the world.</a:t>
            </a:r>
            <a:endParaRPr lang="en-US">
              <a:ea typeface="Calibri" panose="020F0502020204030204"/>
              <a:cs typeface="Calibri" panose="020F0502020204030204"/>
            </a:endParaRPr>
          </a:p>
        </p:txBody>
      </p:sp>
      <p:graphicFrame>
        <p:nvGraphicFramePr>
          <p:cNvPr id="9" name="Content Placeholder 8" descr="Vertical Box List showing 3 groups arranged one below the other with bullet points for task descriptions under each group">
            <a:extLst>
              <a:ext uri="{FF2B5EF4-FFF2-40B4-BE49-F238E27FC236}">
                <a16:creationId xmlns:a16="http://schemas.microsoft.com/office/drawing/2014/main" id="{33B77C9B-0B1B-6F4D-D380-453F3FE9CC59}"/>
              </a:ext>
            </a:extLst>
          </p:cNvPr>
          <p:cNvGraphicFramePr>
            <a:graphicFrameLocks noGrp="1"/>
          </p:cNvGraphicFramePr>
          <p:nvPr>
            <p:ph sz="half" idx="2"/>
            <p:extLst>
              <p:ext uri="{D42A27DB-BD31-4B8C-83A1-F6EECF244321}">
                <p14:modId xmlns:p14="http://schemas.microsoft.com/office/powerpoint/2010/main" val="261705222"/>
              </p:ext>
            </p:extLst>
          </p:nvPr>
        </p:nvGraphicFramePr>
        <p:xfrm>
          <a:off x="8829459" y="2366319"/>
          <a:ext cx="2950354" cy="47017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539659B0-004E-8E12-2402-877FB4BFA88E}"/>
              </a:ext>
            </a:extLst>
          </p:cNvPr>
          <p:cNvPicPr>
            <a:picLocks noChangeAspect="1"/>
          </p:cNvPicPr>
          <p:nvPr/>
        </p:nvPicPr>
        <p:blipFill>
          <a:blip r:embed="rId8"/>
          <a:stretch>
            <a:fillRect/>
          </a:stretch>
        </p:blipFill>
        <p:spPr>
          <a:xfrm>
            <a:off x="1935496" y="2924081"/>
            <a:ext cx="6597316" cy="3724360"/>
          </a:xfrm>
          <a:prstGeom prst="rect">
            <a:avLst/>
          </a:prstGeom>
        </p:spPr>
      </p:pic>
    </p:spTree>
    <p:extLst>
      <p:ext uri="{BB962C8B-B14F-4D97-AF65-F5344CB8AC3E}">
        <p14:creationId xmlns:p14="http://schemas.microsoft.com/office/powerpoint/2010/main" val="4053952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85558-E900-2F28-24A8-BCE2A649E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72C7A-73D4-9F85-D977-B74FD0A2F82E}"/>
              </a:ext>
            </a:extLst>
          </p:cNvPr>
          <p:cNvSpPr>
            <a:spLocks noGrp="1"/>
          </p:cNvSpPr>
          <p:nvPr>
            <p:ph type="title"/>
          </p:nvPr>
        </p:nvSpPr>
        <p:spPr>
          <a:xfrm>
            <a:off x="2055812" y="2743200"/>
            <a:ext cx="9472824" cy="1066800"/>
          </a:xfrm>
        </p:spPr>
        <p:txBody>
          <a:bodyPr>
            <a:normAutofit/>
          </a:bodyPr>
          <a:lstStyle/>
          <a:p>
            <a:pPr algn="ctr"/>
            <a:r>
              <a:rPr lang="en-US" sz="6000"/>
              <a:t>Questions???</a:t>
            </a:r>
          </a:p>
        </p:txBody>
      </p:sp>
    </p:spTree>
    <p:extLst>
      <p:ext uri="{BB962C8B-B14F-4D97-AF65-F5344CB8AC3E}">
        <p14:creationId xmlns:p14="http://schemas.microsoft.com/office/powerpoint/2010/main" val="2966699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harmacy design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dirty="0"/>
        </a:defPPr>
      </a:lstStyle>
      <a:style>
        <a:lnRef idx="1">
          <a:schemeClr val="accent2"/>
        </a:lnRef>
        <a:fillRef idx="3">
          <a:schemeClr val="accent2"/>
        </a:fillRef>
        <a:effectRef idx="2">
          <a:schemeClr val="accent2"/>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tx2">
              <a:lumMod val="20000"/>
              <a:lumOff val="80000"/>
            </a:schemeClr>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Pharmacy design slides.potx" id="{BDD4D5A3-0C20-4887-95F2-BFAB47634035}" vid="{397845B7-7EB0-4CC3-ABEB-6754AD0875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Pharmacy design slides</Template>
  <TotalTime>1</TotalTime>
  <Words>316</Words>
  <Application>Microsoft Office PowerPoint</Application>
  <PresentationFormat>Custom</PresentationFormat>
  <Paragraphs>47</Paragraphs>
  <Slides>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Euphemia</vt:lpstr>
      <vt:lpstr>Franklin Gothic Book</vt:lpstr>
      <vt:lpstr>Times New Roman</vt:lpstr>
      <vt:lpstr>Pharmacy design template</vt:lpstr>
      <vt:lpstr>Tennessee opioid prescriptions and overdose deaths</vt:lpstr>
      <vt:lpstr>Top 5 Tennessee counties with high number of opioid prescriptions</vt:lpstr>
      <vt:lpstr>Top opioid prescribers for the state of Tennessee</vt:lpstr>
      <vt:lpstr>Trend in overdose deaths due to opioids </vt:lpstr>
      <vt:lpstr>Opioid prescriptions and overdose deaths by county</vt:lpstr>
      <vt:lpstr>Association between a particular type of opioid and number of overdose deaths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Janvi Mehendale</dc:creator>
  <cp:lastModifiedBy>Janvi Mehendale</cp:lastModifiedBy>
  <cp:revision>9</cp:revision>
  <dcterms:created xsi:type="dcterms:W3CDTF">2026-01-13T23:37:16Z</dcterms:created>
  <dcterms:modified xsi:type="dcterms:W3CDTF">2026-01-18T01:00:47Z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